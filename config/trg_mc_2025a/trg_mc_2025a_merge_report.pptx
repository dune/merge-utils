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  <p:sldMasterId id="2147483672" r:id="rId2"/>
  </p:sldMasterIdLst>
  <p:notesMasterIdLst>
    <p:notesMasterId r:id="rId18"/>
  </p:notesMasterIdLst>
  <p:sldIdLst>
    <p:sldId id="256" r:id="rId3"/>
    <p:sldId id="296" r:id="rId4"/>
    <p:sldId id="297" r:id="rId5"/>
    <p:sldId id="279" r:id="rId6"/>
    <p:sldId id="287" r:id="rId7"/>
    <p:sldId id="289" r:id="rId8"/>
    <p:sldId id="290" r:id="rId9"/>
    <p:sldId id="262" r:id="rId10"/>
    <p:sldId id="286" r:id="rId11"/>
    <p:sldId id="292" r:id="rId12"/>
    <p:sldId id="291" r:id="rId13"/>
    <p:sldId id="293" r:id="rId14"/>
    <p:sldId id="294" r:id="rId15"/>
    <p:sldId id="295" r:id="rId16"/>
    <p:sldId id="298" r:id="rId17"/>
  </p:sldIdLst>
  <p:sldSz cx="12192000" cy="6858000"/>
  <p:notesSz cx="6985000" cy="9283700"/>
  <p:embeddedFontLst>
    <p:embeddedFont>
      <p:font typeface="Helvetica Neue" panose="02000503000000020004" pitchFamily="2" charset="0"/>
      <p:regular r:id="rId19"/>
      <p:bold r:id="rId20"/>
      <p:italic r:id="rId21"/>
      <p:boldItalic r:id="rId22"/>
    </p:embeddedFont>
    <p:embeddedFont>
      <p:font typeface="Merriweather Sans" pitchFamily="2" charset="77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988">
          <p15:clr>
            <a:srgbClr val="A4A3A4"/>
          </p15:clr>
        </p15:guide>
        <p15:guide id="2" orient="horz" pos="4186">
          <p15:clr>
            <a:srgbClr val="A4A3A4"/>
          </p15:clr>
        </p15:guide>
        <p15:guide id="3" orient="horz" pos="3394">
          <p15:clr>
            <a:srgbClr val="A4A3A4"/>
          </p15:clr>
        </p15:guide>
        <p15:guide id="4" orient="horz" pos="777">
          <p15:clr>
            <a:srgbClr val="A4A3A4"/>
          </p15:clr>
        </p15:guide>
        <p15:guide id="5" orient="horz" pos="1749">
          <p15:clr>
            <a:srgbClr val="A4A3A4"/>
          </p15:clr>
        </p15:guide>
        <p15:guide id="6" orient="horz" pos="457">
          <p15:clr>
            <a:srgbClr val="A4A3A4"/>
          </p15:clr>
        </p15:guide>
        <p15:guide id="7" pos="380">
          <p15:clr>
            <a:srgbClr val="A4A3A4"/>
          </p15:clr>
        </p15:guide>
        <p15:guide id="8" pos="734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ndrew McNab" initials="" lastIdx="2" clrIdx="0"/>
  <p:cmAuthor id="1" name="Heidi M Schellman" initials="" lastIdx="5" clrIdx="1"/>
  <p:cmAuthor id="2" name="Thomas Junk" initials="" lastIdx="1" clrIdx="2"/>
  <p:cmAuthor id="3" name="Jake Calcutt" initials="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02C4448-BA2F-447C-9946-4ACDDA3E964D}">
  <a:tblStyle styleId="{802C4448-BA2F-447C-9946-4ACDDA3E96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20"/>
    <p:restoredTop sz="94668"/>
  </p:normalViewPr>
  <p:slideViewPr>
    <p:cSldViewPr snapToGrid="0">
      <p:cViewPr varScale="1">
        <p:scale>
          <a:sx n="114" d="100"/>
          <a:sy n="114" d="100"/>
        </p:scale>
        <p:origin x="776" y="176"/>
      </p:cViewPr>
      <p:guideLst>
        <p:guide orient="horz" pos="988"/>
        <p:guide orient="horz" pos="4186"/>
        <p:guide orient="horz" pos="3394"/>
        <p:guide orient="horz" pos="777"/>
        <p:guide orient="horz" pos="1749"/>
        <p:guide orient="horz" pos="457"/>
        <p:guide pos="380"/>
        <p:guide pos="734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7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3-03-20T14:43:12.563" idx="2">
    <p:pos x="6000" y="0"/>
    <p:text>"GridPP" needs to be "IRIS" or "IRIS/GridPP"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56550" y="0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98463" y="696913"/>
            <a:ext cx="6188075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98500" y="4409758"/>
            <a:ext cx="5588000" cy="4177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17904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56550" y="8817904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:notes"/>
          <p:cNvSpPr txBox="1">
            <a:spLocks noGrp="1"/>
          </p:cNvSpPr>
          <p:nvPr>
            <p:ph type="body" idx="1"/>
          </p:nvPr>
        </p:nvSpPr>
        <p:spPr>
          <a:xfrm>
            <a:off x="698500" y="4409758"/>
            <a:ext cx="5588000" cy="4177665"/>
          </a:xfrm>
          <a:prstGeom prst="rect">
            <a:avLst/>
          </a:prstGeom>
        </p:spPr>
        <p:txBody>
          <a:bodyPr spcFirstLastPara="1" wrap="square" lIns="92950" tIns="46475" rIns="92950" bIns="464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696913"/>
            <a:ext cx="6188075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7:notes"/>
          <p:cNvSpPr txBox="1">
            <a:spLocks noGrp="1"/>
          </p:cNvSpPr>
          <p:nvPr>
            <p:ph type="body" idx="1"/>
          </p:nvPr>
        </p:nvSpPr>
        <p:spPr>
          <a:xfrm>
            <a:off x="698500" y="4409758"/>
            <a:ext cx="5588000" cy="4177665"/>
          </a:xfrm>
          <a:prstGeom prst="rect">
            <a:avLst/>
          </a:prstGeom>
        </p:spPr>
        <p:txBody>
          <a:bodyPr spcFirstLastPara="1" wrap="square" lIns="92950" tIns="46475" rIns="92950" bIns="464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696913"/>
            <a:ext cx="6188075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0" y="5971032"/>
            <a:ext cx="12192000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2374124" y="1457548"/>
            <a:ext cx="86360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97480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101600" y="6068699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3/23/23</a:t>
            </a:r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2780524" y="236539"/>
            <a:ext cx="782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LBNC March 2023</a:t>
            </a:r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10668000" y="228600"/>
            <a:ext cx="1117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lt2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1" name="Google Shape;21;p2" descr="FermiLogo_RGB_NALBlu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80341" y="6175991"/>
            <a:ext cx="2100381" cy="379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" descr="CERN-logo_outlin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04914" y="6009168"/>
            <a:ext cx="874109" cy="859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" descr="SanfordSURF-horiz-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32878" y="5900528"/>
            <a:ext cx="2489454" cy="930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2" descr="Color-Seal_Green-Mark_SC_Horizontal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76187" y="6122604"/>
            <a:ext cx="2909413" cy="486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2" descr="nsf1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897" y="5840099"/>
            <a:ext cx="90892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06459" y="5886900"/>
            <a:ext cx="1082798" cy="1140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/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609600" y="432610"/>
            <a:ext cx="11057467" cy="569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004C97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3" name="Google Shape;43;p5"/>
          <p:cNvSpPr txBox="1">
            <a:spLocks noGrp="1"/>
          </p:cNvSpPr>
          <p:nvPr>
            <p:ph type="ftr" idx="11"/>
          </p:nvPr>
        </p:nvSpPr>
        <p:spPr>
          <a:xfrm>
            <a:off x="2599363" y="6488431"/>
            <a:ext cx="6965878" cy="18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LBNC March 2023</a:t>
            </a:r>
          </a:p>
        </p:txBody>
      </p:sp>
      <p:sp>
        <p:nvSpPr>
          <p:cNvPr id="44" name="Google Shape;44;p5"/>
          <p:cNvSpPr txBox="1">
            <a:spLocks noGrp="1"/>
          </p:cNvSpPr>
          <p:nvPr>
            <p:ph type="sldNum" idx="12"/>
          </p:nvPr>
        </p:nvSpPr>
        <p:spPr>
          <a:xfrm>
            <a:off x="492352" y="6488431"/>
            <a:ext cx="700617" cy="18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b="0" i="0"/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5" name="Google Shape;45;p5"/>
          <p:cNvSpPr txBox="1">
            <a:spLocks noGrp="1"/>
          </p:cNvSpPr>
          <p:nvPr>
            <p:ph type="body" idx="1"/>
          </p:nvPr>
        </p:nvSpPr>
        <p:spPr>
          <a:xfrm>
            <a:off x="609600" y="1238250"/>
            <a:ext cx="11057467" cy="4846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66A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63666A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66A"/>
              </a:buClr>
              <a:buSzPts val="1800"/>
              <a:buFont typeface="Merriweather Sans"/>
              <a:buChar char="-"/>
              <a:defRPr sz="2000" b="0" i="0" u="none" strike="noStrike" cap="none">
                <a:solidFill>
                  <a:srgbClr val="63666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29183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3666A"/>
              </a:buClr>
              <a:buSzPts val="1584"/>
              <a:buFont typeface="Arial"/>
              <a:buChar char="•"/>
              <a:defRPr sz="1800" b="0" i="0" u="none" strike="noStrike" cap="none">
                <a:solidFill>
                  <a:srgbClr val="63666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20039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3666A"/>
              </a:buClr>
              <a:buSzPts val="1440"/>
              <a:buFont typeface="Merriweather Sans"/>
              <a:buChar char="-"/>
              <a:defRPr sz="1600" b="0" i="0" u="none" strike="noStrike" cap="none">
                <a:solidFill>
                  <a:srgbClr val="63666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06832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3666A"/>
              </a:buClr>
              <a:buSzPts val="1232"/>
              <a:buFont typeface="Arial"/>
              <a:buChar char="•"/>
              <a:defRPr sz="1400" b="0" i="0" u="none" strike="noStrike" cap="none">
                <a:solidFill>
                  <a:srgbClr val="63666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6" name="Google Shape;46;p5"/>
          <p:cNvSpPr txBox="1">
            <a:spLocks noGrp="1"/>
          </p:cNvSpPr>
          <p:nvPr>
            <p:ph type="dt" idx="10"/>
          </p:nvPr>
        </p:nvSpPr>
        <p:spPr>
          <a:xfrm>
            <a:off x="1305984" y="6488431"/>
            <a:ext cx="1098169" cy="18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004C97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3/23/23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and Content">
  <p:cSld name="6_Title and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/>
          <p:nvPr/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605368" y="462518"/>
            <a:ext cx="10972800" cy="647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E95125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65" name="Google Shape;65;p8"/>
          <p:cNvSpPr txBox="1">
            <a:spLocks noGrp="1"/>
          </p:cNvSpPr>
          <p:nvPr>
            <p:ph type="body" idx="1"/>
          </p:nvPr>
        </p:nvSpPr>
        <p:spPr>
          <a:xfrm>
            <a:off x="605373" y="1207770"/>
            <a:ext cx="10977028" cy="507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5A77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3C5A77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5A77"/>
              </a:buClr>
              <a:buSzPts val="1800"/>
              <a:buFont typeface="Merriweather Sans"/>
              <a:buChar char="-"/>
              <a:defRPr sz="2000" b="0" i="0" u="none" strike="noStrike" cap="none">
                <a:solidFill>
                  <a:srgbClr val="3C5A7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2918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5A77"/>
              </a:buClr>
              <a:buSzPts val="1584"/>
              <a:buFont typeface="Arial"/>
              <a:buChar char="•"/>
              <a:defRPr sz="1800" b="0" i="0" u="none" strike="noStrike" cap="none">
                <a:solidFill>
                  <a:srgbClr val="3C5A7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20039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5A77"/>
              </a:buClr>
              <a:buSzPts val="1440"/>
              <a:buFont typeface="Merriweather Sans"/>
              <a:buChar char="-"/>
              <a:defRPr sz="1600" b="0" i="0" u="none" strike="noStrike" cap="none">
                <a:solidFill>
                  <a:srgbClr val="3C5A7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06832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5A77"/>
              </a:buClr>
              <a:buSzPts val="1232"/>
              <a:buFont typeface="Arial"/>
              <a:buChar char="•"/>
              <a:defRPr sz="1400" b="0" i="0" u="none" strike="noStrike" cap="none">
                <a:solidFill>
                  <a:srgbClr val="3C5A7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66" name="Google Shape;66;p8"/>
          <p:cNvSpPr txBox="1">
            <a:spLocks noGrp="1"/>
          </p:cNvSpPr>
          <p:nvPr>
            <p:ph type="dt" idx="10"/>
          </p:nvPr>
        </p:nvSpPr>
        <p:spPr>
          <a:xfrm>
            <a:off x="1172293" y="6549549"/>
            <a:ext cx="1331423" cy="158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E9512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3/23/23</a:t>
            </a:r>
            <a:endParaRPr/>
          </a:p>
        </p:txBody>
      </p:sp>
      <p:sp>
        <p:nvSpPr>
          <p:cNvPr id="67" name="Google Shape;67;p8"/>
          <p:cNvSpPr txBox="1">
            <a:spLocks noGrp="1"/>
          </p:cNvSpPr>
          <p:nvPr>
            <p:ph type="ftr" idx="11"/>
          </p:nvPr>
        </p:nvSpPr>
        <p:spPr>
          <a:xfrm>
            <a:off x="2503714" y="6549549"/>
            <a:ext cx="5799081" cy="158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E95125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LBNC March 2023</a:t>
            </a:r>
          </a:p>
        </p:txBody>
      </p:sp>
      <p:sp>
        <p:nvSpPr>
          <p:cNvPr id="68" name="Google Shape;68;p8"/>
          <p:cNvSpPr txBox="1">
            <a:spLocks noGrp="1"/>
          </p:cNvSpPr>
          <p:nvPr>
            <p:ph type="sldNum" idx="12"/>
          </p:nvPr>
        </p:nvSpPr>
        <p:spPr>
          <a:xfrm>
            <a:off x="605368" y="6549549"/>
            <a:ext cx="566925" cy="158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rgbClr val="E95125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E9512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E9512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E9512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E9512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E9512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E9512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E9512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E9512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1_Two Conten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 txBox="1">
            <a:spLocks noGrp="1"/>
          </p:cNvSpPr>
          <p:nvPr>
            <p:ph type="title"/>
          </p:nvPr>
        </p:nvSpPr>
        <p:spPr>
          <a:xfrm>
            <a:off x="609600" y="462518"/>
            <a:ext cx="10972800" cy="647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E95125"/>
              </a:buClr>
              <a:buSzPts val="1400"/>
              <a:buFont typeface="Helvetica Neue"/>
              <a:buNone/>
              <a:defRPr sz="4400" b="0" i="0" u="none" strike="noStrike" cap="none">
                <a:solidFill>
                  <a:srgbClr val="E95125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3" name="Google Shape;83;p11"/>
          <p:cNvSpPr txBox="1">
            <a:spLocks noGrp="1"/>
          </p:cNvSpPr>
          <p:nvPr>
            <p:ph type="dt" idx="10"/>
          </p:nvPr>
        </p:nvSpPr>
        <p:spPr>
          <a:xfrm>
            <a:off x="1172293" y="6549549"/>
            <a:ext cx="1331423" cy="158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E95125"/>
              </a:buClr>
              <a:buSzPts val="1400"/>
              <a:buFont typeface="Arial"/>
              <a:buNone/>
              <a:defRPr sz="1200" b="0" i="0">
                <a:solidFill>
                  <a:srgbClr val="E9512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r>
              <a:rPr lang="en-US"/>
              <a:t>3/23/23</a:t>
            </a:r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ftr" idx="11"/>
          </p:nvPr>
        </p:nvSpPr>
        <p:spPr>
          <a:xfrm>
            <a:off x="2503714" y="6549549"/>
            <a:ext cx="5799081" cy="158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E95125"/>
              </a:buClr>
              <a:buSzPts val="1400"/>
              <a:buFont typeface="Helvetica Neue"/>
              <a:buNone/>
              <a:defRPr sz="1200" b="0" i="0">
                <a:solidFill>
                  <a:srgbClr val="E95125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r>
              <a:rPr lang="en-US" dirty="0"/>
              <a:t>LBNC March 2023</a:t>
            </a:r>
          </a:p>
        </p:txBody>
      </p:sp>
      <p:sp>
        <p:nvSpPr>
          <p:cNvPr id="85" name="Google Shape;85;p11"/>
          <p:cNvSpPr txBox="1">
            <a:spLocks noGrp="1"/>
          </p:cNvSpPr>
          <p:nvPr>
            <p:ph type="sldNum" idx="12"/>
          </p:nvPr>
        </p:nvSpPr>
        <p:spPr>
          <a:xfrm>
            <a:off x="605368" y="6549549"/>
            <a:ext cx="566925" cy="158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95125"/>
              </a:buClr>
              <a:buSzPts val="1200"/>
              <a:buFont typeface="Helvetica Neue"/>
              <a:buNone/>
              <a:defRPr sz="1200" b="0" i="0">
                <a:solidFill>
                  <a:srgbClr val="E95125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rgbClr val="E95125"/>
              </a:buClr>
              <a:buSzPts val="1200"/>
              <a:buFont typeface="Helvetica Neue"/>
              <a:buNone/>
              <a:defRPr sz="1200" b="1" i="0">
                <a:solidFill>
                  <a:srgbClr val="E9512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rgbClr val="E95125"/>
              </a:buClr>
              <a:buSzPts val="1200"/>
              <a:buFont typeface="Helvetica Neue"/>
              <a:buNone/>
              <a:defRPr sz="1200" b="1" i="0">
                <a:solidFill>
                  <a:srgbClr val="E9512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rgbClr val="E95125"/>
              </a:buClr>
              <a:buSzPts val="1200"/>
              <a:buFont typeface="Helvetica Neue"/>
              <a:buNone/>
              <a:defRPr sz="1200" b="1" i="0">
                <a:solidFill>
                  <a:srgbClr val="E9512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rgbClr val="E95125"/>
              </a:buClr>
              <a:buSzPts val="1200"/>
              <a:buFont typeface="Helvetica Neue"/>
              <a:buNone/>
              <a:defRPr sz="1200" b="1" i="0">
                <a:solidFill>
                  <a:srgbClr val="E9512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rgbClr val="E95125"/>
              </a:buClr>
              <a:buSzPts val="1200"/>
              <a:buFont typeface="Helvetica Neue"/>
              <a:buNone/>
              <a:defRPr sz="1200" b="1" i="0">
                <a:solidFill>
                  <a:srgbClr val="E9512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rgbClr val="E95125"/>
              </a:buClr>
              <a:buSzPts val="1200"/>
              <a:buFont typeface="Helvetica Neue"/>
              <a:buNone/>
              <a:defRPr sz="1200" b="1" i="0">
                <a:solidFill>
                  <a:srgbClr val="E9512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rgbClr val="E95125"/>
              </a:buClr>
              <a:buSzPts val="1200"/>
              <a:buFont typeface="Helvetica Neue"/>
              <a:buNone/>
              <a:defRPr sz="1200" b="1" i="0">
                <a:solidFill>
                  <a:srgbClr val="E9512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rgbClr val="E95125"/>
              </a:buClr>
              <a:buSzPts val="1200"/>
              <a:buFont typeface="Helvetica Neue"/>
              <a:buNone/>
              <a:defRPr sz="1200" b="1" i="0">
                <a:solidFill>
                  <a:srgbClr val="E9512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6" name="Google Shape;86;p11"/>
          <p:cNvSpPr txBox="1">
            <a:spLocks noGrp="1"/>
          </p:cNvSpPr>
          <p:nvPr>
            <p:ph type="body" idx="1"/>
          </p:nvPr>
        </p:nvSpPr>
        <p:spPr>
          <a:xfrm>
            <a:off x="605368" y="1207770"/>
            <a:ext cx="5321000" cy="5031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5A77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3C5A77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5A77"/>
              </a:buClr>
              <a:buSzPts val="1800"/>
              <a:buFont typeface="Merriweather Sans"/>
              <a:buChar char="-"/>
              <a:defRPr sz="2000" b="0" i="0" u="none" strike="noStrike" cap="none">
                <a:solidFill>
                  <a:srgbClr val="3C5A7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2918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5A77"/>
              </a:buClr>
              <a:buSzPts val="1584"/>
              <a:buFont typeface="Arial"/>
              <a:buChar char="•"/>
              <a:defRPr sz="1800" b="0" i="0" u="none" strike="noStrike" cap="none">
                <a:solidFill>
                  <a:srgbClr val="3C5A7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20039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5A77"/>
              </a:buClr>
              <a:buSzPts val="1440"/>
              <a:buFont typeface="Merriweather Sans"/>
              <a:buChar char="-"/>
              <a:defRPr sz="1600" b="0" i="0" u="none" strike="noStrike" cap="none">
                <a:solidFill>
                  <a:srgbClr val="3C5A7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06832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5A77"/>
              </a:buClr>
              <a:buSzPts val="1232"/>
              <a:buFont typeface="Arial"/>
              <a:buChar char="•"/>
              <a:defRPr sz="1400" b="0" i="0" u="none" strike="noStrike" cap="none">
                <a:solidFill>
                  <a:srgbClr val="3C5A7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87" name="Google Shape;87;p11"/>
          <p:cNvSpPr txBox="1">
            <a:spLocks noGrp="1"/>
          </p:cNvSpPr>
          <p:nvPr>
            <p:ph type="body" idx="2"/>
          </p:nvPr>
        </p:nvSpPr>
        <p:spPr>
          <a:xfrm>
            <a:off x="6261400" y="1215721"/>
            <a:ext cx="5321000" cy="5031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5A77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3C5A77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5A77"/>
              </a:buClr>
              <a:buSzPts val="1800"/>
              <a:buFont typeface="Merriweather Sans"/>
              <a:buChar char="-"/>
              <a:defRPr sz="2000" b="0" i="0" u="none" strike="noStrike" cap="none">
                <a:solidFill>
                  <a:srgbClr val="3C5A7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2918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5A77"/>
              </a:buClr>
              <a:buSzPts val="1584"/>
              <a:buFont typeface="Arial"/>
              <a:buChar char="•"/>
              <a:defRPr sz="1800" b="0" i="0" u="none" strike="noStrike" cap="none">
                <a:solidFill>
                  <a:srgbClr val="3C5A7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20039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5A77"/>
              </a:buClr>
              <a:buSzPts val="1440"/>
              <a:buFont typeface="Merriweather Sans"/>
              <a:buChar char="-"/>
              <a:defRPr sz="1600" b="0" i="0" u="none" strike="noStrike" cap="none">
                <a:solidFill>
                  <a:srgbClr val="3C5A7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06832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5A77"/>
              </a:buClr>
              <a:buSzPts val="1232"/>
              <a:buFont typeface="Arial"/>
              <a:buChar char="•"/>
              <a:defRPr sz="1400" b="0" i="0" u="none" strike="noStrike" cap="none">
                <a:solidFill>
                  <a:srgbClr val="3C5A7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 txBox="1"/>
          <p:nvPr/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2"/>
          <p:cNvSpPr txBox="1">
            <a:spLocks noGrp="1"/>
          </p:cNvSpPr>
          <p:nvPr>
            <p:ph type="title"/>
          </p:nvPr>
        </p:nvSpPr>
        <p:spPr>
          <a:xfrm>
            <a:off x="609600" y="432610"/>
            <a:ext cx="11057467" cy="569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004C97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1" name="Google Shape;91;p12"/>
          <p:cNvSpPr txBox="1">
            <a:spLocks noGrp="1"/>
          </p:cNvSpPr>
          <p:nvPr>
            <p:ph type="ftr" idx="11"/>
          </p:nvPr>
        </p:nvSpPr>
        <p:spPr>
          <a:xfrm>
            <a:off x="2599363" y="6488431"/>
            <a:ext cx="6965878" cy="18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LBNC March 2023</a:t>
            </a:r>
          </a:p>
        </p:txBody>
      </p:sp>
      <p:sp>
        <p:nvSpPr>
          <p:cNvPr id="92" name="Google Shape;92;p12"/>
          <p:cNvSpPr txBox="1">
            <a:spLocks noGrp="1"/>
          </p:cNvSpPr>
          <p:nvPr>
            <p:ph type="sldNum" idx="12"/>
          </p:nvPr>
        </p:nvSpPr>
        <p:spPr>
          <a:xfrm>
            <a:off x="492352" y="6488431"/>
            <a:ext cx="700617" cy="18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b="0" i="0"/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3" name="Google Shape;93;p12"/>
          <p:cNvSpPr txBox="1">
            <a:spLocks noGrp="1"/>
          </p:cNvSpPr>
          <p:nvPr>
            <p:ph type="dt" idx="10"/>
          </p:nvPr>
        </p:nvSpPr>
        <p:spPr>
          <a:xfrm>
            <a:off x="1305984" y="6488431"/>
            <a:ext cx="1098169" cy="18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004C97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3/23/23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>
            <a:spLocks noGrp="1"/>
          </p:cNvSpPr>
          <p:nvPr>
            <p:ph type="body" idx="1"/>
          </p:nvPr>
        </p:nvSpPr>
        <p:spPr>
          <a:xfrm>
            <a:off x="609600" y="1191345"/>
            <a:ext cx="5338140" cy="737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320"/>
              </a:spcBef>
              <a:spcAft>
                <a:spcPts val="0"/>
              </a:spcAft>
              <a:buClr>
                <a:srgbClr val="C0504D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C0504D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59822" y="279514"/>
            <a:ext cx="11072356" cy="579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004C97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body" idx="2"/>
          </p:nvPr>
        </p:nvSpPr>
        <p:spPr>
          <a:xfrm>
            <a:off x="6486192" y="1191345"/>
            <a:ext cx="5422840" cy="737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320"/>
              </a:spcBef>
              <a:spcAft>
                <a:spcPts val="0"/>
              </a:spcAft>
              <a:buClr>
                <a:srgbClr val="C0504D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C0504D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8" name="Google Shape;98;p13"/>
          <p:cNvSpPr txBox="1">
            <a:spLocks noGrp="1"/>
          </p:cNvSpPr>
          <p:nvPr>
            <p:ph type="ftr" idx="11"/>
          </p:nvPr>
        </p:nvSpPr>
        <p:spPr>
          <a:xfrm>
            <a:off x="2821518" y="6488432"/>
            <a:ext cx="7329349" cy="187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LBNC March 2023</a:t>
            </a:r>
          </a:p>
        </p:txBody>
      </p:sp>
      <p:sp>
        <p:nvSpPr>
          <p:cNvPr id="99" name="Google Shape;99;p13"/>
          <p:cNvSpPr txBox="1">
            <a:spLocks noGrp="1"/>
          </p:cNvSpPr>
          <p:nvPr>
            <p:ph type="sldNum" idx="12"/>
          </p:nvPr>
        </p:nvSpPr>
        <p:spPr>
          <a:xfrm>
            <a:off x="363679" y="6488431"/>
            <a:ext cx="700617" cy="18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rgbClr val="004C97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0" name="Google Shape;100;p13"/>
          <p:cNvSpPr txBox="1">
            <a:spLocks noGrp="1"/>
          </p:cNvSpPr>
          <p:nvPr>
            <p:ph type="body" idx="3"/>
          </p:nvPr>
        </p:nvSpPr>
        <p:spPr>
          <a:xfrm>
            <a:off x="609600" y="2211736"/>
            <a:ext cx="5331795" cy="3892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66A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63666A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3666A"/>
              </a:buClr>
              <a:buSzPts val="1800"/>
              <a:buFont typeface="Merriweather Sans"/>
              <a:buChar char="-"/>
              <a:defRPr sz="2000" b="0" i="0" u="none" strike="noStrike" cap="none">
                <a:solidFill>
                  <a:srgbClr val="63666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29183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3666A"/>
              </a:buClr>
              <a:buSzPts val="1584"/>
              <a:buFont typeface="Arial"/>
              <a:buChar char="•"/>
              <a:defRPr sz="1800" b="0" i="0" u="none" strike="noStrike" cap="none">
                <a:solidFill>
                  <a:srgbClr val="63666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20039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3666A"/>
              </a:buClr>
              <a:buSzPts val="1440"/>
              <a:buFont typeface="Merriweather Sans"/>
              <a:buChar char="-"/>
              <a:defRPr sz="1600" b="0" i="0" u="none" strike="noStrike" cap="none">
                <a:solidFill>
                  <a:srgbClr val="63666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06832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3666A"/>
              </a:buClr>
              <a:buSzPts val="1232"/>
              <a:buFont typeface="Arial"/>
              <a:buChar char="•"/>
              <a:defRPr sz="1400" b="0" i="0" u="none" strike="noStrike" cap="none">
                <a:solidFill>
                  <a:srgbClr val="63666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1" name="Google Shape;101;p13"/>
          <p:cNvSpPr txBox="1">
            <a:spLocks noGrp="1"/>
          </p:cNvSpPr>
          <p:nvPr>
            <p:ph type="body" idx="4"/>
          </p:nvPr>
        </p:nvSpPr>
        <p:spPr>
          <a:xfrm>
            <a:off x="6486192" y="2211736"/>
            <a:ext cx="5331795" cy="3892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66A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63666A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3666A"/>
              </a:buClr>
              <a:buSzPts val="1800"/>
              <a:buFont typeface="Merriweather Sans"/>
              <a:buChar char="-"/>
              <a:defRPr sz="2000" b="0" i="0" u="none" strike="noStrike" cap="none">
                <a:solidFill>
                  <a:srgbClr val="63666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03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3666A"/>
              </a:buClr>
              <a:buSzPts val="1760"/>
              <a:buFont typeface="Arial"/>
              <a:buChar char="•"/>
              <a:defRPr sz="2000" b="0" i="0" u="none" strike="noStrike" cap="none">
                <a:solidFill>
                  <a:srgbClr val="63666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3666A"/>
              </a:buClr>
              <a:buSzPts val="1800"/>
              <a:buFont typeface="Merriweather Sans"/>
              <a:buChar char="-"/>
              <a:defRPr sz="2000" b="0" i="0" u="none" strike="noStrike" cap="none">
                <a:solidFill>
                  <a:srgbClr val="63666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036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3666A"/>
              </a:buClr>
              <a:buSzPts val="1760"/>
              <a:buFont typeface="Arial"/>
              <a:buChar char="•"/>
              <a:defRPr sz="2000" b="0" i="0" u="none" strike="noStrike" cap="none">
                <a:solidFill>
                  <a:srgbClr val="63666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2" name="Google Shape;102;p13"/>
          <p:cNvSpPr txBox="1">
            <a:spLocks noGrp="1"/>
          </p:cNvSpPr>
          <p:nvPr>
            <p:ph type="dt" idx="10"/>
          </p:nvPr>
        </p:nvSpPr>
        <p:spPr>
          <a:xfrm>
            <a:off x="1305984" y="6488431"/>
            <a:ext cx="1515533" cy="18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004C97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3/23/23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Picture">
  <p:cSld name="Title and Picture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 txBox="1">
            <a:spLocks noGrp="1"/>
          </p:cNvSpPr>
          <p:nvPr>
            <p:ph type="title"/>
          </p:nvPr>
        </p:nvSpPr>
        <p:spPr>
          <a:xfrm>
            <a:off x="609600" y="432610"/>
            <a:ext cx="11057467" cy="646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004C97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5" name="Google Shape;105;p14"/>
          <p:cNvSpPr>
            <a:spLocks noGrp="1"/>
          </p:cNvSpPr>
          <p:nvPr>
            <p:ph type="pic" idx="2"/>
          </p:nvPr>
        </p:nvSpPr>
        <p:spPr>
          <a:xfrm>
            <a:off x="609600" y="1238251"/>
            <a:ext cx="11057467" cy="4846639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14"/>
          <p:cNvSpPr txBox="1">
            <a:spLocks noGrp="1"/>
          </p:cNvSpPr>
          <p:nvPr>
            <p:ph type="ftr" idx="11"/>
          </p:nvPr>
        </p:nvSpPr>
        <p:spPr>
          <a:xfrm>
            <a:off x="2821519" y="6488431"/>
            <a:ext cx="7103318" cy="18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LBNC March 2023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sldNum" idx="12"/>
          </p:nvPr>
        </p:nvSpPr>
        <p:spPr>
          <a:xfrm>
            <a:off x="492352" y="6488431"/>
            <a:ext cx="700617" cy="18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rgbClr val="004C97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8" name="Google Shape;108;p14"/>
          <p:cNvSpPr txBox="1">
            <a:spLocks noGrp="1"/>
          </p:cNvSpPr>
          <p:nvPr>
            <p:ph type="dt" idx="10"/>
          </p:nvPr>
        </p:nvSpPr>
        <p:spPr>
          <a:xfrm>
            <a:off x="1305985" y="6488431"/>
            <a:ext cx="1324200" cy="18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004C97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3/23/23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">
  <p:cSld name="Picture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>
            <a:spLocks noGrp="1"/>
          </p:cNvSpPr>
          <p:nvPr>
            <p:ph type="pic" idx="2"/>
          </p:nvPr>
        </p:nvSpPr>
        <p:spPr>
          <a:xfrm>
            <a:off x="0" y="1"/>
            <a:ext cx="12192000" cy="6099175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15"/>
          <p:cNvSpPr txBox="1">
            <a:spLocks noGrp="1"/>
          </p:cNvSpPr>
          <p:nvPr>
            <p:ph type="ftr" idx="11"/>
          </p:nvPr>
        </p:nvSpPr>
        <p:spPr>
          <a:xfrm>
            <a:off x="2821518" y="6488432"/>
            <a:ext cx="7329349" cy="187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LBNC March 2023</a:t>
            </a:r>
          </a:p>
        </p:txBody>
      </p:sp>
      <p:sp>
        <p:nvSpPr>
          <p:cNvPr id="112" name="Google Shape;112;p15"/>
          <p:cNvSpPr txBox="1">
            <a:spLocks noGrp="1"/>
          </p:cNvSpPr>
          <p:nvPr>
            <p:ph type="sldNum" idx="12"/>
          </p:nvPr>
        </p:nvSpPr>
        <p:spPr>
          <a:xfrm>
            <a:off x="461529" y="6488430"/>
            <a:ext cx="700617" cy="18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rgbClr val="004C97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3" name="Google Shape;113;p15"/>
          <p:cNvSpPr txBox="1">
            <a:spLocks noGrp="1"/>
          </p:cNvSpPr>
          <p:nvPr>
            <p:ph type="dt" idx="10"/>
          </p:nvPr>
        </p:nvSpPr>
        <p:spPr>
          <a:xfrm>
            <a:off x="1305984" y="6488431"/>
            <a:ext cx="1515533" cy="18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004C97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3/23/23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>
            <a:spLocks noGrp="1"/>
          </p:cNvSpPr>
          <p:nvPr>
            <p:ph type="body" idx="1"/>
          </p:nvPr>
        </p:nvSpPr>
        <p:spPr>
          <a:xfrm>
            <a:off x="609605" y="5175906"/>
            <a:ext cx="4023360" cy="915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320"/>
              </a:spcBef>
              <a:spcAft>
                <a:spcPts val="0"/>
              </a:spcAft>
              <a:buClr>
                <a:srgbClr val="00B5E2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B5E2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16" name="Google Shape;116;p16"/>
          <p:cNvSpPr>
            <a:spLocks noGrp="1"/>
          </p:cNvSpPr>
          <p:nvPr>
            <p:ph type="pic" idx="2"/>
          </p:nvPr>
        </p:nvSpPr>
        <p:spPr>
          <a:xfrm>
            <a:off x="4955118" y="1238250"/>
            <a:ext cx="6711949" cy="4852988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16"/>
          <p:cNvSpPr txBox="1">
            <a:spLocks noGrp="1"/>
          </p:cNvSpPr>
          <p:nvPr>
            <p:ph type="ftr" idx="11"/>
          </p:nvPr>
        </p:nvSpPr>
        <p:spPr>
          <a:xfrm>
            <a:off x="2821518" y="6488432"/>
            <a:ext cx="7329349" cy="187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004C97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LBNC March 2023</a:t>
            </a:r>
          </a:p>
        </p:txBody>
      </p:sp>
      <p:sp>
        <p:nvSpPr>
          <p:cNvPr id="118" name="Google Shape;118;p16"/>
          <p:cNvSpPr txBox="1">
            <a:spLocks noGrp="1"/>
          </p:cNvSpPr>
          <p:nvPr>
            <p:ph type="sldNum" idx="12"/>
          </p:nvPr>
        </p:nvSpPr>
        <p:spPr>
          <a:xfrm>
            <a:off x="363679" y="6488431"/>
            <a:ext cx="700617" cy="18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rgbClr val="004C97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609600" y="429098"/>
            <a:ext cx="11057467" cy="647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004C97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0" name="Google Shape;120;p16"/>
          <p:cNvSpPr txBox="1">
            <a:spLocks noGrp="1"/>
          </p:cNvSpPr>
          <p:nvPr>
            <p:ph type="body" idx="3"/>
          </p:nvPr>
        </p:nvSpPr>
        <p:spPr>
          <a:xfrm>
            <a:off x="609600" y="1238250"/>
            <a:ext cx="4023365" cy="372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66A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63666A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1032"/>
              </a:spcBef>
              <a:spcAft>
                <a:spcPts val="0"/>
              </a:spcAft>
              <a:buClr>
                <a:srgbClr val="63666A"/>
              </a:buClr>
              <a:buSzPts val="1800"/>
              <a:buFont typeface="Merriweather Sans"/>
              <a:buChar char="-"/>
              <a:defRPr sz="2000" b="0" i="0" u="none" strike="noStrike" cap="none">
                <a:solidFill>
                  <a:srgbClr val="63666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29183" algn="l" rtl="0">
              <a:lnSpc>
                <a:spcPct val="100000"/>
              </a:lnSpc>
              <a:spcBef>
                <a:spcPts val="1032"/>
              </a:spcBef>
              <a:spcAft>
                <a:spcPts val="0"/>
              </a:spcAft>
              <a:buClr>
                <a:srgbClr val="63666A"/>
              </a:buClr>
              <a:buSzPts val="1584"/>
              <a:buFont typeface="Arial"/>
              <a:buChar char="•"/>
              <a:defRPr sz="1800" b="0" i="0" u="none" strike="noStrike" cap="none">
                <a:solidFill>
                  <a:srgbClr val="63666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20039" algn="l" rtl="0">
              <a:lnSpc>
                <a:spcPct val="100000"/>
              </a:lnSpc>
              <a:spcBef>
                <a:spcPts val="1032"/>
              </a:spcBef>
              <a:spcAft>
                <a:spcPts val="0"/>
              </a:spcAft>
              <a:buClr>
                <a:srgbClr val="63666A"/>
              </a:buClr>
              <a:buSzPts val="1440"/>
              <a:buFont typeface="Merriweather Sans"/>
              <a:buChar char="-"/>
              <a:defRPr sz="1600" b="0" i="0" u="none" strike="noStrike" cap="none">
                <a:solidFill>
                  <a:srgbClr val="63666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06832" algn="l" rtl="0">
              <a:lnSpc>
                <a:spcPct val="100000"/>
              </a:lnSpc>
              <a:spcBef>
                <a:spcPts val="1032"/>
              </a:spcBef>
              <a:spcAft>
                <a:spcPts val="0"/>
              </a:spcAft>
              <a:buClr>
                <a:srgbClr val="63666A"/>
              </a:buClr>
              <a:buSzPts val="1232"/>
              <a:buFont typeface="Arial"/>
              <a:buChar char="•"/>
              <a:defRPr sz="1400" b="0" i="0" u="none" strike="noStrike" cap="none">
                <a:solidFill>
                  <a:srgbClr val="63666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1" name="Google Shape;121;p16"/>
          <p:cNvSpPr txBox="1">
            <a:spLocks noGrp="1"/>
          </p:cNvSpPr>
          <p:nvPr>
            <p:ph type="dt" idx="10"/>
          </p:nvPr>
        </p:nvSpPr>
        <p:spPr>
          <a:xfrm>
            <a:off x="1305985" y="6488431"/>
            <a:ext cx="1313926" cy="18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004C97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3/23/23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Picture with Caption">
  <p:cSld name="Title, Picture with Caption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>
            <a:spLocks noGrp="1"/>
          </p:cNvSpPr>
          <p:nvPr>
            <p:ph type="pic" idx="2"/>
          </p:nvPr>
        </p:nvSpPr>
        <p:spPr>
          <a:xfrm>
            <a:off x="605366" y="1227138"/>
            <a:ext cx="11061700" cy="4241851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17"/>
          <p:cNvSpPr txBox="1">
            <a:spLocks noGrp="1"/>
          </p:cNvSpPr>
          <p:nvPr>
            <p:ph type="body" idx="1"/>
          </p:nvPr>
        </p:nvSpPr>
        <p:spPr>
          <a:xfrm>
            <a:off x="609605" y="5686118"/>
            <a:ext cx="11057460" cy="439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320"/>
              </a:spcBef>
              <a:spcAft>
                <a:spcPts val="0"/>
              </a:spcAft>
              <a:buClr>
                <a:srgbClr val="00B5E2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B5E2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5" name="Google Shape;125;p17"/>
          <p:cNvSpPr txBox="1">
            <a:spLocks noGrp="1"/>
          </p:cNvSpPr>
          <p:nvPr>
            <p:ph type="ftr" idx="11"/>
          </p:nvPr>
        </p:nvSpPr>
        <p:spPr>
          <a:xfrm>
            <a:off x="2821518" y="6488432"/>
            <a:ext cx="7329349" cy="187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004C97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LBNC March 2023</a:t>
            </a:r>
          </a:p>
        </p:txBody>
      </p:sp>
      <p:sp>
        <p:nvSpPr>
          <p:cNvPr id="126" name="Google Shape;126;p17"/>
          <p:cNvSpPr txBox="1">
            <a:spLocks noGrp="1"/>
          </p:cNvSpPr>
          <p:nvPr>
            <p:ph type="sldNum" idx="12"/>
          </p:nvPr>
        </p:nvSpPr>
        <p:spPr>
          <a:xfrm>
            <a:off x="363679" y="6488431"/>
            <a:ext cx="700617" cy="18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rgbClr val="004C97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609606" y="425569"/>
            <a:ext cx="11057461" cy="603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004C97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8" name="Google Shape;128;p17"/>
          <p:cNvSpPr txBox="1">
            <a:spLocks noGrp="1"/>
          </p:cNvSpPr>
          <p:nvPr>
            <p:ph type="dt" idx="10"/>
          </p:nvPr>
        </p:nvSpPr>
        <p:spPr>
          <a:xfrm>
            <a:off x="1305984" y="6488431"/>
            <a:ext cx="1515533" cy="18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004C97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3/23/23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solidFill>
          <a:schemeClr val="lt1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/>
          <p:nvPr/>
        </p:nvSpPr>
        <p:spPr>
          <a:xfrm>
            <a:off x="0" y="5971032"/>
            <a:ext cx="12192000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 txBox="1">
            <a:spLocks noGrp="1"/>
          </p:cNvSpPr>
          <p:nvPr>
            <p:ph type="ctrTitle"/>
          </p:nvPr>
        </p:nvSpPr>
        <p:spPr>
          <a:xfrm>
            <a:off x="2374124" y="1457548"/>
            <a:ext cx="86360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97480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dt" idx="10"/>
          </p:nvPr>
        </p:nvSpPr>
        <p:spPr>
          <a:xfrm>
            <a:off x="101600" y="6068699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3/23/23</a:t>
            </a:r>
          </a:p>
        </p:txBody>
      </p:sp>
      <p:sp>
        <p:nvSpPr>
          <p:cNvPr id="133" name="Google Shape;133;p18"/>
          <p:cNvSpPr txBox="1">
            <a:spLocks noGrp="1"/>
          </p:cNvSpPr>
          <p:nvPr>
            <p:ph type="ftr" idx="11"/>
          </p:nvPr>
        </p:nvSpPr>
        <p:spPr>
          <a:xfrm>
            <a:off x="2780524" y="236539"/>
            <a:ext cx="782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LBNC March 2023</a:t>
            </a:r>
          </a:p>
        </p:txBody>
      </p:sp>
      <p:sp>
        <p:nvSpPr>
          <p:cNvPr id="134" name="Google Shape;134;p18"/>
          <p:cNvSpPr txBox="1">
            <a:spLocks noGrp="1"/>
          </p:cNvSpPr>
          <p:nvPr>
            <p:ph type="sldNum" idx="12"/>
          </p:nvPr>
        </p:nvSpPr>
        <p:spPr>
          <a:xfrm>
            <a:off x="10668000" y="228600"/>
            <a:ext cx="1117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lt2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5" name="Google Shape;135;p18" descr="FermiLogo_RGB_NALBlu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80341" y="6175991"/>
            <a:ext cx="2100381" cy="379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8" descr="CERN-logo_outlin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04914" y="6009168"/>
            <a:ext cx="874109" cy="859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8" descr="SanfordSURF-horiz-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32878" y="5900528"/>
            <a:ext cx="2489454" cy="930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8" descr="Color-Seal_Green-Mark_SC_Horizontal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76187" y="6122604"/>
            <a:ext cx="2909413" cy="486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 descr="nsf1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897" y="5840099"/>
            <a:ext cx="90892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06459" y="5886900"/>
            <a:ext cx="1082798" cy="1140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>
            <a:spLocks noGrp="1"/>
          </p:cNvSpPr>
          <p:nvPr>
            <p:ph type="title"/>
          </p:nvPr>
        </p:nvSpPr>
        <p:spPr>
          <a:xfrm>
            <a:off x="816864" y="110447"/>
            <a:ext cx="10871200" cy="761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3" name="Google Shape;143;p19"/>
          <p:cNvSpPr txBox="1">
            <a:spLocks noGrp="1"/>
          </p:cNvSpPr>
          <p:nvPr>
            <p:ph type="dt" idx="10"/>
          </p:nvPr>
        </p:nvSpPr>
        <p:spPr>
          <a:xfrm>
            <a:off x="1305985" y="6488431"/>
            <a:ext cx="1313926" cy="200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3/23/23</a:t>
            </a:r>
          </a:p>
        </p:txBody>
      </p:sp>
      <p:sp>
        <p:nvSpPr>
          <p:cNvPr id="144" name="Google Shape;144;p19"/>
          <p:cNvSpPr txBox="1">
            <a:spLocks noGrp="1"/>
          </p:cNvSpPr>
          <p:nvPr>
            <p:ph type="ftr" idx="11"/>
          </p:nvPr>
        </p:nvSpPr>
        <p:spPr>
          <a:xfrm>
            <a:off x="2821518" y="6488432"/>
            <a:ext cx="7329349" cy="187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LBNC March 2023</a:t>
            </a:r>
          </a:p>
        </p:txBody>
      </p:sp>
      <p:sp>
        <p:nvSpPr>
          <p:cNvPr id="145" name="Google Shape;145;p19"/>
          <p:cNvSpPr txBox="1">
            <a:spLocks noGrp="1"/>
          </p:cNvSpPr>
          <p:nvPr>
            <p:ph type="body" idx="1"/>
          </p:nvPr>
        </p:nvSpPr>
        <p:spPr>
          <a:xfrm>
            <a:off x="816864" y="1214906"/>
            <a:ext cx="10871200" cy="4881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–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/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98"/>
              <a:buFont typeface="Calibri"/>
              <a:buNone/>
            </a:pPr>
            <a:endParaRPr sz="329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605368" y="462519"/>
            <a:ext cx="10972800" cy="647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99" b="0" i="0" u="none" strike="noStrike" cap="none">
                <a:solidFill>
                  <a:srgbClr val="E95125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49" name="Google Shape;149;p20"/>
          <p:cNvSpPr txBox="1">
            <a:spLocks noGrp="1"/>
          </p:cNvSpPr>
          <p:nvPr>
            <p:ph type="body" idx="1"/>
          </p:nvPr>
        </p:nvSpPr>
        <p:spPr>
          <a:xfrm>
            <a:off x="605375" y="1207770"/>
            <a:ext cx="10977028" cy="507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33311" algn="l" rtl="0">
              <a:lnSpc>
                <a:spcPct val="100000"/>
              </a:lnSpc>
              <a:spcBef>
                <a:spcPts val="899"/>
              </a:spcBef>
              <a:spcAft>
                <a:spcPts val="0"/>
              </a:spcAft>
              <a:buClr>
                <a:srgbClr val="3C5A77"/>
              </a:buClr>
              <a:buSzPts val="1649"/>
              <a:buFont typeface="Arial"/>
              <a:buChar char="•"/>
              <a:defRPr sz="1649" b="0" i="0" u="none" strike="noStrike" cap="none">
                <a:solidFill>
                  <a:srgbClr val="3C5A77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L="914400" marR="0" lvl="1" indent="-314267" algn="l" rtl="0">
              <a:lnSpc>
                <a:spcPct val="100000"/>
              </a:lnSpc>
              <a:spcBef>
                <a:spcPts val="899"/>
              </a:spcBef>
              <a:spcAft>
                <a:spcPts val="0"/>
              </a:spcAft>
              <a:buClr>
                <a:srgbClr val="3C5A77"/>
              </a:buClr>
              <a:buSzPts val="1349"/>
              <a:buFont typeface="Merriweather Sans"/>
              <a:buChar char="-"/>
              <a:defRPr sz="1499" b="0" i="0" u="none" strike="noStrike" cap="none">
                <a:solidFill>
                  <a:srgbClr val="3C5A7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04038" algn="l" rtl="0">
              <a:lnSpc>
                <a:spcPct val="100000"/>
              </a:lnSpc>
              <a:spcBef>
                <a:spcPts val="899"/>
              </a:spcBef>
              <a:spcAft>
                <a:spcPts val="0"/>
              </a:spcAft>
              <a:buClr>
                <a:srgbClr val="3C5A77"/>
              </a:buClr>
              <a:buSzPts val="1188"/>
              <a:buFont typeface="Arial"/>
              <a:buChar char="•"/>
              <a:defRPr sz="1350" b="0" i="0" u="none" strike="noStrike" cap="none">
                <a:solidFill>
                  <a:srgbClr val="3C5A7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97180" algn="l" rtl="0">
              <a:lnSpc>
                <a:spcPct val="100000"/>
              </a:lnSpc>
              <a:spcBef>
                <a:spcPts val="899"/>
              </a:spcBef>
              <a:spcAft>
                <a:spcPts val="0"/>
              </a:spcAft>
              <a:buClr>
                <a:srgbClr val="3C5A77"/>
              </a:buClr>
              <a:buSzPts val="1080"/>
              <a:buFont typeface="Merriweather Sans"/>
              <a:buChar char="-"/>
              <a:defRPr sz="1200" b="0" i="0" u="none" strike="noStrike" cap="none">
                <a:solidFill>
                  <a:srgbClr val="3C5A7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87218" algn="l" rtl="0">
              <a:lnSpc>
                <a:spcPct val="100000"/>
              </a:lnSpc>
              <a:spcBef>
                <a:spcPts val="899"/>
              </a:spcBef>
              <a:spcAft>
                <a:spcPts val="0"/>
              </a:spcAft>
              <a:buClr>
                <a:srgbClr val="3C5A77"/>
              </a:buClr>
              <a:buSzPts val="923"/>
              <a:buFont typeface="Arial"/>
              <a:buChar char="•"/>
              <a:defRPr sz="1049" b="0" i="0" u="none" strike="noStrike" cap="none">
                <a:solidFill>
                  <a:srgbClr val="3C5A7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50" name="Google Shape;150;p20"/>
          <p:cNvSpPr txBox="1">
            <a:spLocks noGrp="1"/>
          </p:cNvSpPr>
          <p:nvPr>
            <p:ph type="dt" idx="10"/>
          </p:nvPr>
        </p:nvSpPr>
        <p:spPr>
          <a:xfrm>
            <a:off x="1172297" y="6549551"/>
            <a:ext cx="1331423" cy="15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99" b="0" i="0">
                <a:solidFill>
                  <a:srgbClr val="E9512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3/23/23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ftr" idx="11"/>
          </p:nvPr>
        </p:nvSpPr>
        <p:spPr>
          <a:xfrm>
            <a:off x="2503717" y="6549551"/>
            <a:ext cx="5799081" cy="15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99" b="0" i="0">
                <a:solidFill>
                  <a:srgbClr val="E95125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LBNC March 2023</a:t>
            </a:r>
          </a:p>
        </p:txBody>
      </p:sp>
      <p:sp>
        <p:nvSpPr>
          <p:cNvPr id="152" name="Google Shape;152;p20"/>
          <p:cNvSpPr txBox="1">
            <a:spLocks noGrp="1"/>
          </p:cNvSpPr>
          <p:nvPr>
            <p:ph type="sldNum" idx="12"/>
          </p:nvPr>
        </p:nvSpPr>
        <p:spPr>
          <a:xfrm>
            <a:off x="223122" y="6322077"/>
            <a:ext cx="566925" cy="386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899" b="1" i="0">
                <a:solidFill>
                  <a:srgbClr val="E9512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899" b="1" i="0">
                <a:solidFill>
                  <a:srgbClr val="E9512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899" b="1" i="0">
                <a:solidFill>
                  <a:srgbClr val="E9512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899" b="1" i="0">
                <a:solidFill>
                  <a:srgbClr val="E9512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899" b="1" i="0">
                <a:solidFill>
                  <a:srgbClr val="E9512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899" b="1" i="0">
                <a:solidFill>
                  <a:srgbClr val="E9512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899" b="1" i="0">
                <a:solidFill>
                  <a:srgbClr val="E9512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899" b="1" i="0">
                <a:solidFill>
                  <a:srgbClr val="E9512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899" b="1" i="0">
                <a:solidFill>
                  <a:srgbClr val="E9512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fld id="{00000000-1234-1234-1234-123412341234}" type="slidenum">
              <a:rPr lang="en-US" smtClean="0">
                <a:latin typeface="Calibri"/>
                <a:ea typeface="Calibri"/>
                <a:cs typeface="Calibri"/>
                <a:sym typeface="Calibri"/>
              </a:rPr>
              <a:pPr/>
              <a:t>‹#›</a:t>
            </a:fld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97480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5" name="Google Shape;155;p21"/>
          <p:cNvSpPr txBox="1">
            <a:spLocks noGrp="1"/>
          </p:cNvSpPr>
          <p:nvPr>
            <p:ph type="dt" idx="10"/>
          </p:nvPr>
        </p:nvSpPr>
        <p:spPr>
          <a:xfrm>
            <a:off x="1305985" y="6488431"/>
            <a:ext cx="1313926" cy="200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3/23/23</a:t>
            </a:r>
          </a:p>
        </p:txBody>
      </p:sp>
      <p:sp>
        <p:nvSpPr>
          <p:cNvPr id="156" name="Google Shape;156;p21"/>
          <p:cNvSpPr txBox="1">
            <a:spLocks noGrp="1"/>
          </p:cNvSpPr>
          <p:nvPr>
            <p:ph type="ftr" idx="11"/>
          </p:nvPr>
        </p:nvSpPr>
        <p:spPr>
          <a:xfrm>
            <a:off x="2821518" y="6488432"/>
            <a:ext cx="7329349" cy="187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LBNC March 2023</a:t>
            </a:r>
          </a:p>
        </p:txBody>
      </p:sp>
      <p:sp>
        <p:nvSpPr>
          <p:cNvPr id="157" name="Google Shape;157;p21"/>
          <p:cNvSpPr txBox="1">
            <a:spLocks noGrp="1"/>
          </p:cNvSpPr>
          <p:nvPr>
            <p:ph type="sldNum" idx="12"/>
          </p:nvPr>
        </p:nvSpPr>
        <p:spPr>
          <a:xfrm>
            <a:off x="25400" y="871855"/>
            <a:ext cx="7112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rgbClr val="FFFFFF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0" name="Google Shape;160;p22"/>
          <p:cNvSpPr txBox="1">
            <a:spLocks noGrp="1"/>
          </p:cNvSpPr>
          <p:nvPr>
            <p:ph type="dt" idx="10"/>
          </p:nvPr>
        </p:nvSpPr>
        <p:spPr>
          <a:xfrm>
            <a:off x="1305985" y="6488431"/>
            <a:ext cx="1313926" cy="200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3/23/23</a:t>
            </a:r>
          </a:p>
        </p:txBody>
      </p:sp>
      <p:sp>
        <p:nvSpPr>
          <p:cNvPr id="161" name="Google Shape;161;p22"/>
          <p:cNvSpPr txBox="1">
            <a:spLocks noGrp="1"/>
          </p:cNvSpPr>
          <p:nvPr>
            <p:ph type="ftr" idx="11"/>
          </p:nvPr>
        </p:nvSpPr>
        <p:spPr>
          <a:xfrm>
            <a:off x="2821518" y="6488432"/>
            <a:ext cx="7329349" cy="187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LBNC March 2023</a:t>
            </a:r>
          </a:p>
        </p:txBody>
      </p:sp>
      <p:sp>
        <p:nvSpPr>
          <p:cNvPr id="162" name="Google Shape;162;p22"/>
          <p:cNvSpPr txBox="1">
            <a:spLocks noGrp="1"/>
          </p:cNvSpPr>
          <p:nvPr>
            <p:ph type="sldNum" idx="12"/>
          </p:nvPr>
        </p:nvSpPr>
        <p:spPr>
          <a:xfrm>
            <a:off x="363679" y="6488431"/>
            <a:ext cx="700617" cy="18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b="0" i="0"/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>
            <a:spLocks noGrp="1"/>
          </p:cNvSpPr>
          <p:nvPr>
            <p:ph type="dt" idx="10"/>
          </p:nvPr>
        </p:nvSpPr>
        <p:spPr>
          <a:xfrm>
            <a:off x="1305985" y="6488431"/>
            <a:ext cx="1313926" cy="200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3/23/23</a:t>
            </a:r>
          </a:p>
        </p:txBody>
      </p:sp>
      <p:sp>
        <p:nvSpPr>
          <p:cNvPr id="165" name="Google Shape;165;p23"/>
          <p:cNvSpPr txBox="1">
            <a:spLocks noGrp="1"/>
          </p:cNvSpPr>
          <p:nvPr>
            <p:ph type="ftr" idx="11"/>
          </p:nvPr>
        </p:nvSpPr>
        <p:spPr>
          <a:xfrm>
            <a:off x="2821518" y="6488432"/>
            <a:ext cx="7329349" cy="187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LBNC March 2023</a:t>
            </a:r>
          </a:p>
        </p:txBody>
      </p:sp>
      <p:sp>
        <p:nvSpPr>
          <p:cNvPr id="166" name="Google Shape;166;p23"/>
          <p:cNvSpPr txBox="1">
            <a:spLocks noGrp="1"/>
          </p:cNvSpPr>
          <p:nvPr>
            <p:ph type="sldNum" idx="12"/>
          </p:nvPr>
        </p:nvSpPr>
        <p:spPr>
          <a:xfrm>
            <a:off x="0" y="6248400"/>
            <a:ext cx="711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2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/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4"/>
          <p:cNvSpPr txBox="1">
            <a:spLocks noGrp="1"/>
          </p:cNvSpPr>
          <p:nvPr>
            <p:ph type="title"/>
          </p:nvPr>
        </p:nvSpPr>
        <p:spPr>
          <a:xfrm>
            <a:off x="605368" y="462518"/>
            <a:ext cx="10972800" cy="647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E95125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70" name="Google Shape;170;p24"/>
          <p:cNvSpPr txBox="1">
            <a:spLocks noGrp="1"/>
          </p:cNvSpPr>
          <p:nvPr>
            <p:ph type="body" idx="1"/>
          </p:nvPr>
        </p:nvSpPr>
        <p:spPr>
          <a:xfrm>
            <a:off x="605373" y="1207770"/>
            <a:ext cx="10977028" cy="507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5A77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3C5A77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5A77"/>
              </a:buClr>
              <a:buSzPts val="1800"/>
              <a:buFont typeface="Merriweather Sans"/>
              <a:buChar char="-"/>
              <a:defRPr sz="2000" b="0" i="0" u="none" strike="noStrike" cap="none">
                <a:solidFill>
                  <a:srgbClr val="3C5A7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2918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5A77"/>
              </a:buClr>
              <a:buSzPts val="1584"/>
              <a:buFont typeface="Arial"/>
              <a:buChar char="•"/>
              <a:defRPr sz="1800" b="0" i="0" u="none" strike="noStrike" cap="none">
                <a:solidFill>
                  <a:srgbClr val="3C5A7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20039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5A77"/>
              </a:buClr>
              <a:buSzPts val="1440"/>
              <a:buFont typeface="Merriweather Sans"/>
              <a:buChar char="-"/>
              <a:defRPr sz="1600" b="0" i="0" u="none" strike="noStrike" cap="none">
                <a:solidFill>
                  <a:srgbClr val="3C5A7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06832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5A77"/>
              </a:buClr>
              <a:buSzPts val="1232"/>
              <a:buFont typeface="Arial"/>
              <a:buChar char="•"/>
              <a:defRPr sz="1400" b="0" i="0" u="none" strike="noStrike" cap="none">
                <a:solidFill>
                  <a:srgbClr val="3C5A7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71" name="Google Shape;171;p24"/>
          <p:cNvSpPr txBox="1">
            <a:spLocks noGrp="1"/>
          </p:cNvSpPr>
          <p:nvPr>
            <p:ph type="dt" idx="10"/>
          </p:nvPr>
        </p:nvSpPr>
        <p:spPr>
          <a:xfrm>
            <a:off x="1172293" y="6549549"/>
            <a:ext cx="1331423" cy="158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E9512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3/23/23</a:t>
            </a:r>
            <a:endParaRPr/>
          </a:p>
        </p:txBody>
      </p:sp>
      <p:sp>
        <p:nvSpPr>
          <p:cNvPr id="172" name="Google Shape;172;p24"/>
          <p:cNvSpPr txBox="1">
            <a:spLocks noGrp="1"/>
          </p:cNvSpPr>
          <p:nvPr>
            <p:ph type="ftr" idx="11"/>
          </p:nvPr>
        </p:nvSpPr>
        <p:spPr>
          <a:xfrm>
            <a:off x="2503714" y="6549549"/>
            <a:ext cx="5799081" cy="158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E95125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LBNC March 2023</a:t>
            </a:r>
          </a:p>
        </p:txBody>
      </p:sp>
      <p:sp>
        <p:nvSpPr>
          <p:cNvPr id="173" name="Google Shape;173;p24"/>
          <p:cNvSpPr txBox="1">
            <a:spLocks noGrp="1"/>
          </p:cNvSpPr>
          <p:nvPr>
            <p:ph type="sldNum" idx="12"/>
          </p:nvPr>
        </p:nvSpPr>
        <p:spPr>
          <a:xfrm>
            <a:off x="605368" y="6549549"/>
            <a:ext cx="566925" cy="158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rgbClr val="E95125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E9512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E9512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E9512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E9512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E9512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E9512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E9512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E9512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>
            <a:spLocks noGrp="1"/>
          </p:cNvSpPr>
          <p:nvPr>
            <p:ph type="sldNum" idx="12"/>
          </p:nvPr>
        </p:nvSpPr>
        <p:spPr>
          <a:xfrm>
            <a:off x="363679" y="6488431"/>
            <a:ext cx="700617" cy="18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rgbClr val="004C97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200" b="1" i="0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6" name="Google Shape;176;p25"/>
          <p:cNvSpPr txBox="1">
            <a:spLocks noGrp="1"/>
          </p:cNvSpPr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7" name="Google Shape;177;p25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09600" y="462518"/>
            <a:ext cx="10972800" cy="647102"/>
          </a:xfrm>
          <a:prstGeom prst="rect">
            <a:avLst/>
          </a:prstGeom>
        </p:spPr>
        <p:txBody>
          <a:bodyPr vert="horz" lIns="0" tIns="0" rIns="0" bIns="0"/>
          <a:lstStyle>
            <a:lvl1pPr algn="l">
              <a:defRPr sz="4400" b="1" i="0" baseline="0">
                <a:solidFill>
                  <a:srgbClr val="E95125"/>
                </a:solidFill>
                <a:latin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1172293" y="6549549"/>
            <a:ext cx="1331423" cy="158697"/>
          </a:xfrm>
          <a:prstGeom prst="rect">
            <a:avLst/>
          </a:prstGeom>
        </p:spPr>
        <p:txBody>
          <a:bodyPr lIns="0" tIns="0" rIns="0" bIns="0" anchor="b" anchorCtr="0"/>
          <a:lstStyle>
            <a:lvl1pPr fontAlgn="auto">
              <a:spcBef>
                <a:spcPts val="0"/>
              </a:spcBef>
              <a:spcAft>
                <a:spcPts val="0"/>
              </a:spcAft>
              <a:defRPr sz="1200" b="0" i="0" baseline="0" smtClean="0">
                <a:solidFill>
                  <a:srgbClr val="E95125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C27E5B1-B50C-D940-A116-CE32843690C1}" type="datetime1">
              <a:rPr lang="en-US" smtClean="0"/>
              <a:t>1/17/26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3714" y="6549549"/>
            <a:ext cx="5799081" cy="158697"/>
          </a:xfrm>
          <a:prstGeom prst="rect">
            <a:avLst/>
          </a:prstGeom>
        </p:spPr>
        <p:txBody>
          <a:bodyPr lIns="0" tIns="0" rIns="0" bIns="0" anchor="b" anchorCtr="0"/>
          <a:lstStyle>
            <a:lvl1pPr fontAlgn="auto">
              <a:spcBef>
                <a:spcPts val="0"/>
              </a:spcBef>
              <a:spcAft>
                <a:spcPts val="0"/>
              </a:spcAft>
              <a:defRPr sz="1200" b="0" i="0" baseline="0" dirty="0">
                <a:solidFill>
                  <a:srgbClr val="E95125"/>
                </a:solidFill>
                <a:latin typeface="Helvetica"/>
                <a:ea typeface="+mn-ea"/>
                <a:cs typeface="Helvetica"/>
              </a:defRPr>
            </a:lvl1pPr>
          </a:lstStyle>
          <a:p>
            <a:r>
              <a:rPr lang="en-US"/>
              <a:t>CHEP 2019</a:t>
            </a: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82400" y="6699303"/>
            <a:ext cx="566925" cy="158697"/>
          </a:xfrm>
          <a:prstGeom prst="rect">
            <a:avLst/>
          </a:prstGeom>
        </p:spPr>
        <p:txBody>
          <a:bodyPr lIns="0" tIns="0" rIns="0" bIns="0" anchor="b" anchorCtr="0"/>
          <a:lstStyle>
            <a:lvl1pPr fontAlgn="auto">
              <a:spcBef>
                <a:spcPts val="0"/>
              </a:spcBef>
              <a:spcAft>
                <a:spcPts val="0"/>
              </a:spcAft>
              <a:defRPr sz="1200" b="1" i="0" baseline="0" smtClean="0">
                <a:solidFill>
                  <a:srgbClr val="E95125"/>
                </a:solidFill>
                <a:latin typeface="Helvetica"/>
                <a:ea typeface="+mn-ea"/>
                <a:cs typeface="Helvetica"/>
              </a:defRPr>
            </a:lvl1pPr>
          </a:lstStyle>
          <a:p>
            <a:endParaRPr lang="en-US" dirty="0"/>
          </a:p>
          <a:p>
            <a:fld id="{01A0B35B-92FC-4436-A986-B881E1E75555}" type="slidenum">
              <a:rPr lang="en-US" smtClean="0"/>
              <a:pPr/>
              <a:t>‹#›</a:t>
            </a:fld>
            <a:endParaRPr lang="en-US" dirty="0"/>
          </a:p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1"/>
          </p:nvPr>
        </p:nvSpPr>
        <p:spPr>
          <a:xfrm>
            <a:off x="605368" y="1207770"/>
            <a:ext cx="5321000" cy="5031626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256032" indent="-265176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/>
              <a:buChar char="•"/>
              <a:defRPr sz="2200" b="0" i="0">
                <a:solidFill>
                  <a:srgbClr val="3C5A77"/>
                </a:solidFill>
                <a:latin typeface="Helvetica"/>
              </a:defRPr>
            </a:lvl1pPr>
            <a:lvl2pPr marL="541338" indent="-2667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90000"/>
              <a:buFont typeface="Lucida Grande"/>
              <a:buChar char="-"/>
              <a:defRPr sz="2000" b="0" i="0">
                <a:solidFill>
                  <a:srgbClr val="3C5A77"/>
                </a:solidFill>
                <a:latin typeface="Helvetica"/>
              </a:defRPr>
            </a:lvl2pPr>
            <a:lvl3pPr marL="898525" indent="-27305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88000"/>
              <a:buFont typeface="Arial"/>
              <a:buChar char="•"/>
              <a:defRPr sz="1800" b="0" i="0">
                <a:solidFill>
                  <a:srgbClr val="3C5A77"/>
                </a:solidFill>
                <a:latin typeface="Helvetica"/>
              </a:defRPr>
            </a:lvl3pPr>
            <a:lvl4pPr marL="1165225" indent="-2667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90000"/>
              <a:buFont typeface="Lucida Grande"/>
              <a:buChar char="-"/>
              <a:defRPr sz="1600" b="0" i="0">
                <a:solidFill>
                  <a:srgbClr val="3C5A77"/>
                </a:solidFill>
                <a:latin typeface="Helvetica"/>
              </a:defRPr>
            </a:lvl4pPr>
            <a:lvl5pPr marL="1431925" indent="-2667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88000"/>
              <a:buFont typeface="Arial"/>
              <a:buChar char="•"/>
              <a:defRPr sz="1400" b="0" i="0">
                <a:solidFill>
                  <a:srgbClr val="3C5A77"/>
                </a:solidFill>
                <a:latin typeface="Helvetica"/>
              </a:defRPr>
            </a:lvl5pPr>
          </a:lstStyle>
          <a:p>
            <a:pPr marL="256032" marR="0" lvl="0" indent="-265176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/>
              <a:t>Click to edit Master text styles</a:t>
            </a:r>
          </a:p>
          <a:p>
            <a:pPr marL="256032" marR="0" lvl="1" indent="-265176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/>
              <a:t>Second level</a:t>
            </a:r>
          </a:p>
          <a:p>
            <a:pPr marL="256032" marR="0" lvl="2" indent="-265176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/>
              <a:t>Third level</a:t>
            </a:r>
          </a:p>
          <a:p>
            <a:pPr marL="256032" marR="0" lvl="3" indent="-265176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/>
              <a:t>Fourth level</a:t>
            </a:r>
          </a:p>
          <a:p>
            <a:pPr marL="256032" marR="0" lvl="4" indent="-265176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2"/>
          </p:nvPr>
        </p:nvSpPr>
        <p:spPr>
          <a:xfrm>
            <a:off x="6261400" y="1215721"/>
            <a:ext cx="5321000" cy="5031626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256032" indent="-265176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/>
              <a:buChar char="•"/>
              <a:defRPr sz="2200" b="0" i="0">
                <a:solidFill>
                  <a:srgbClr val="3C5A77"/>
                </a:solidFill>
                <a:latin typeface="Helvetica"/>
              </a:defRPr>
            </a:lvl1pPr>
            <a:lvl2pPr marL="541338" indent="-2667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90000"/>
              <a:buFont typeface="Lucida Grande"/>
              <a:buChar char="-"/>
              <a:defRPr sz="2000" b="0" i="0">
                <a:solidFill>
                  <a:srgbClr val="3C5A77"/>
                </a:solidFill>
                <a:latin typeface="Helvetica"/>
              </a:defRPr>
            </a:lvl2pPr>
            <a:lvl3pPr marL="898525" indent="-27305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88000"/>
              <a:buFont typeface="Arial"/>
              <a:buChar char="•"/>
              <a:defRPr sz="1800" b="0" i="0">
                <a:solidFill>
                  <a:srgbClr val="3C5A77"/>
                </a:solidFill>
                <a:latin typeface="Helvetica"/>
              </a:defRPr>
            </a:lvl3pPr>
            <a:lvl4pPr marL="1165225" indent="-2667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90000"/>
              <a:buFont typeface="Lucida Grande"/>
              <a:buChar char="-"/>
              <a:defRPr sz="1600" b="0" i="0">
                <a:solidFill>
                  <a:srgbClr val="3C5A77"/>
                </a:solidFill>
                <a:latin typeface="Helvetica"/>
              </a:defRPr>
            </a:lvl4pPr>
            <a:lvl5pPr marL="1431925" indent="-2667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88000"/>
              <a:buFont typeface="Arial"/>
              <a:buChar char="•"/>
              <a:defRPr sz="1400" b="0" i="0">
                <a:solidFill>
                  <a:srgbClr val="3C5A77"/>
                </a:solidFill>
                <a:latin typeface="Helvetic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7532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5521483"/>
            <a:ext cx="5338140" cy="737519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1600" b="0" i="0" baseline="0">
                <a:solidFill>
                  <a:srgbClr val="E95125"/>
                </a:solidFill>
                <a:latin typeface="Helvetic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6244261" y="5521483"/>
            <a:ext cx="5338140" cy="737519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1600" b="0" i="0" baseline="0">
                <a:solidFill>
                  <a:srgbClr val="E95125"/>
                </a:solidFill>
                <a:latin typeface="Helvetic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609600" y="462518"/>
            <a:ext cx="10972800" cy="647102"/>
          </a:xfrm>
          <a:prstGeom prst="rect">
            <a:avLst/>
          </a:prstGeom>
        </p:spPr>
        <p:txBody>
          <a:bodyPr vert="horz" lIns="0" tIns="0" rIns="0" bIns="0"/>
          <a:lstStyle>
            <a:lvl1pPr algn="l">
              <a:defRPr sz="4400" b="1" i="0" baseline="0">
                <a:solidFill>
                  <a:srgbClr val="E95125"/>
                </a:solidFill>
                <a:latin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1172293" y="6549549"/>
            <a:ext cx="1331423" cy="158697"/>
          </a:xfrm>
          <a:prstGeom prst="rect">
            <a:avLst/>
          </a:prstGeom>
        </p:spPr>
        <p:txBody>
          <a:bodyPr lIns="0" tIns="0" rIns="0" bIns="0" anchor="b" anchorCtr="0"/>
          <a:lstStyle>
            <a:lvl1pPr fontAlgn="auto">
              <a:spcBef>
                <a:spcPts val="0"/>
              </a:spcBef>
              <a:spcAft>
                <a:spcPts val="0"/>
              </a:spcAft>
              <a:defRPr sz="1200" b="0" i="0" baseline="0" smtClean="0">
                <a:solidFill>
                  <a:srgbClr val="E95125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F959038-0EE5-4D40-94CC-11A27893214C}" type="datetime1">
              <a:rPr lang="en-US" smtClean="0"/>
              <a:t>1/17/26</a:t>
            </a:fld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3714" y="6549549"/>
            <a:ext cx="5799081" cy="158697"/>
          </a:xfrm>
          <a:prstGeom prst="rect">
            <a:avLst/>
          </a:prstGeom>
        </p:spPr>
        <p:txBody>
          <a:bodyPr lIns="0" tIns="0" rIns="0" bIns="0" anchor="b" anchorCtr="0"/>
          <a:lstStyle>
            <a:lvl1pPr fontAlgn="auto">
              <a:spcBef>
                <a:spcPts val="0"/>
              </a:spcBef>
              <a:spcAft>
                <a:spcPts val="0"/>
              </a:spcAft>
              <a:defRPr sz="1200" b="0" i="0" baseline="0" dirty="0">
                <a:solidFill>
                  <a:srgbClr val="E95125"/>
                </a:solidFill>
                <a:latin typeface="Helvetica"/>
                <a:ea typeface="+mn-ea"/>
                <a:cs typeface="Helvetica"/>
              </a:defRPr>
            </a:lvl1pPr>
          </a:lstStyle>
          <a:p>
            <a:r>
              <a:rPr lang="en-US"/>
              <a:t>CHEP 2019</a:t>
            </a:r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5368" y="6549549"/>
            <a:ext cx="566925" cy="158697"/>
          </a:xfrm>
          <a:prstGeom prst="rect">
            <a:avLst/>
          </a:prstGeom>
        </p:spPr>
        <p:txBody>
          <a:bodyPr lIns="0" tIns="0" rIns="0" bIns="0" anchor="b" anchorCtr="0"/>
          <a:lstStyle>
            <a:lvl1pPr fontAlgn="auto">
              <a:spcBef>
                <a:spcPts val="0"/>
              </a:spcBef>
              <a:spcAft>
                <a:spcPts val="0"/>
              </a:spcAft>
              <a:defRPr sz="1200" b="1" i="0" baseline="0" smtClean="0">
                <a:solidFill>
                  <a:srgbClr val="E95125"/>
                </a:solidFill>
                <a:latin typeface="Helvetica"/>
                <a:ea typeface="+mn-ea"/>
                <a:cs typeface="Helvetica"/>
              </a:defRPr>
            </a:lvl1pPr>
          </a:lstStyle>
          <a:p>
            <a:endParaRPr lang="en-US" dirty="0"/>
          </a:p>
          <a:p>
            <a:fld id="{01A0B35B-92FC-4436-A986-B881E1E75555}" type="slidenum">
              <a:rPr lang="en-US" smtClean="0"/>
              <a:pPr/>
              <a:t>‹#›</a:t>
            </a:fld>
            <a:endParaRPr lang="en-US" dirty="0"/>
          </a:p>
          <a:p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idx="11"/>
          </p:nvPr>
        </p:nvSpPr>
        <p:spPr>
          <a:xfrm>
            <a:off x="626745" y="1206941"/>
            <a:ext cx="5321000" cy="4180116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256032" indent="-265176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/>
              <a:buChar char="•"/>
              <a:defRPr sz="2200" b="0" i="0">
                <a:solidFill>
                  <a:srgbClr val="3C5A77"/>
                </a:solidFill>
                <a:latin typeface="Helvetica"/>
              </a:defRPr>
            </a:lvl1pPr>
            <a:lvl2pPr marL="541338" indent="-2667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90000"/>
              <a:buFont typeface="Lucida Grande"/>
              <a:buChar char="-"/>
              <a:defRPr sz="2000" b="0" i="0">
                <a:solidFill>
                  <a:srgbClr val="3C5A77"/>
                </a:solidFill>
                <a:latin typeface="Helvetica"/>
              </a:defRPr>
            </a:lvl2pPr>
            <a:lvl3pPr marL="898525" indent="-27305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88000"/>
              <a:buFont typeface="Arial"/>
              <a:buChar char="•"/>
              <a:defRPr sz="1800" b="0" i="0">
                <a:solidFill>
                  <a:srgbClr val="3C5A77"/>
                </a:solidFill>
                <a:latin typeface="Helvetica"/>
              </a:defRPr>
            </a:lvl3pPr>
            <a:lvl4pPr marL="1165225" indent="-2667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90000"/>
              <a:buFont typeface="Lucida Grande"/>
              <a:buChar char="-"/>
              <a:defRPr sz="1600" b="0" i="0">
                <a:solidFill>
                  <a:srgbClr val="3C5A77"/>
                </a:solidFill>
                <a:latin typeface="Helvetica"/>
              </a:defRPr>
            </a:lvl4pPr>
            <a:lvl5pPr marL="1431925" indent="-2667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88000"/>
              <a:buFont typeface="Arial"/>
              <a:buChar char="•"/>
              <a:defRPr sz="1400" b="0" i="0">
                <a:solidFill>
                  <a:srgbClr val="3C5A77"/>
                </a:solidFill>
                <a:latin typeface="Helvetic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idx="14"/>
          </p:nvPr>
        </p:nvSpPr>
        <p:spPr>
          <a:xfrm>
            <a:off x="6261400" y="1206941"/>
            <a:ext cx="5321000" cy="4180116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256032" indent="-265176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/>
              <a:buChar char="•"/>
              <a:defRPr sz="2200" b="0" i="0">
                <a:solidFill>
                  <a:srgbClr val="3C5A77"/>
                </a:solidFill>
                <a:latin typeface="Helvetica"/>
              </a:defRPr>
            </a:lvl1pPr>
            <a:lvl2pPr marL="541338" indent="-2667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90000"/>
              <a:buFont typeface="Lucida Grande"/>
              <a:buChar char="-"/>
              <a:defRPr sz="2000" b="0" i="0">
                <a:solidFill>
                  <a:srgbClr val="3C5A77"/>
                </a:solidFill>
                <a:latin typeface="Helvetica"/>
              </a:defRPr>
            </a:lvl2pPr>
            <a:lvl3pPr marL="898525" indent="-27305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88000"/>
              <a:buFont typeface="Arial"/>
              <a:buChar char="•"/>
              <a:defRPr sz="1800" b="0" i="0">
                <a:solidFill>
                  <a:srgbClr val="3C5A77"/>
                </a:solidFill>
                <a:latin typeface="Helvetica"/>
              </a:defRPr>
            </a:lvl3pPr>
            <a:lvl4pPr marL="1165225" indent="-2667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90000"/>
              <a:buFont typeface="Lucida Grande"/>
              <a:buChar char="-"/>
              <a:defRPr sz="1600" b="0" i="0">
                <a:solidFill>
                  <a:srgbClr val="3C5A77"/>
                </a:solidFill>
                <a:latin typeface="Helvetica"/>
              </a:defRPr>
            </a:lvl4pPr>
            <a:lvl5pPr marL="1431925" indent="-2667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88000"/>
              <a:buFont typeface="Arial"/>
              <a:buChar char="•"/>
              <a:defRPr sz="1400" b="0" i="0">
                <a:solidFill>
                  <a:srgbClr val="3C5A77"/>
                </a:solidFill>
                <a:latin typeface="Helvetic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332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4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0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"/>
          <p:cNvCxnSpPr/>
          <p:nvPr/>
        </p:nvCxnSpPr>
        <p:spPr>
          <a:xfrm>
            <a:off x="287676" y="6357938"/>
            <a:ext cx="11667705" cy="0"/>
          </a:xfrm>
          <a:prstGeom prst="straightConnector1">
            <a:avLst/>
          </a:prstGeom>
          <a:noFill/>
          <a:ln w="25400" cap="flat" cmpd="sng">
            <a:solidFill>
              <a:srgbClr val="004C9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1"/>
          <p:cNvSpPr txBox="1">
            <a:spLocks noGrp="1"/>
          </p:cNvSpPr>
          <p:nvPr>
            <p:ph type="dt" idx="10"/>
          </p:nvPr>
        </p:nvSpPr>
        <p:spPr>
          <a:xfrm>
            <a:off x="1305985" y="6488431"/>
            <a:ext cx="1313926" cy="200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4C97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/>
              <a:t>3/23/23</a:t>
            </a:r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2821518" y="6488432"/>
            <a:ext cx="7329349" cy="187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4C97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/>
              <a:t>LBNC March 2023</a:t>
            </a:r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363679" y="6488431"/>
            <a:ext cx="700617" cy="18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004C97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10285" y="6425229"/>
            <a:ext cx="1518036" cy="31372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3"/>
          <p:cNvCxnSpPr/>
          <p:nvPr/>
        </p:nvCxnSpPr>
        <p:spPr>
          <a:xfrm>
            <a:off x="287676" y="6357938"/>
            <a:ext cx="11667705" cy="0"/>
          </a:xfrm>
          <a:prstGeom prst="straightConnector1">
            <a:avLst/>
          </a:prstGeom>
          <a:noFill/>
          <a:ln w="25400" cap="flat" cmpd="sng">
            <a:solidFill>
              <a:srgbClr val="004C9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3"/>
          <p:cNvSpPr txBox="1">
            <a:spLocks noGrp="1"/>
          </p:cNvSpPr>
          <p:nvPr>
            <p:ph type="dt" idx="10"/>
          </p:nvPr>
        </p:nvSpPr>
        <p:spPr>
          <a:xfrm>
            <a:off x="1305985" y="6488431"/>
            <a:ext cx="1313926" cy="200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4C97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/>
              <a:t>3/23/23</a:t>
            </a:r>
          </a:p>
        </p:txBody>
      </p:sp>
      <p:sp>
        <p:nvSpPr>
          <p:cNvPr id="30" name="Google Shape;30;p3"/>
          <p:cNvSpPr txBox="1">
            <a:spLocks noGrp="1"/>
          </p:cNvSpPr>
          <p:nvPr>
            <p:ph type="ftr" idx="11"/>
          </p:nvPr>
        </p:nvSpPr>
        <p:spPr>
          <a:xfrm>
            <a:off x="2821518" y="6488432"/>
            <a:ext cx="7329349" cy="187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4C97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/>
              <a:t>LBNC March 2023</a:t>
            </a:r>
          </a:p>
        </p:txBody>
      </p:sp>
      <p:sp>
        <p:nvSpPr>
          <p:cNvPr id="31" name="Google Shape;31;p3"/>
          <p:cNvSpPr txBox="1">
            <a:spLocks noGrp="1"/>
          </p:cNvSpPr>
          <p:nvPr>
            <p:ph type="sldNum" idx="12"/>
          </p:nvPr>
        </p:nvSpPr>
        <p:spPr>
          <a:xfrm>
            <a:off x="363679" y="6488431"/>
            <a:ext cx="700617" cy="18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004C97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rgbClr val="004C9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2" name="Google Shape;32;p3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310285" y="6425229"/>
            <a:ext cx="1518036" cy="31372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3" r:id="rId18"/>
    <p:sldLayoutId id="2147483674" r:id="rId19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indico.fnal.gov/e/fermilab-frameworks-workshop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comments" Target="../comments/commen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 txBox="1">
            <a:spLocks noGrp="1"/>
          </p:cNvSpPr>
          <p:nvPr>
            <p:ph type="ctrTitle"/>
          </p:nvPr>
        </p:nvSpPr>
        <p:spPr>
          <a:xfrm>
            <a:off x="1149757" y="2185968"/>
            <a:ext cx="86360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C0504D"/>
                </a:solidFill>
              </a:rPr>
              <a:t>DUNE COMPUTING UPDATE</a:t>
            </a:r>
            <a:br>
              <a:rPr lang="en-US" dirty="0">
                <a:solidFill>
                  <a:srgbClr val="C0504D"/>
                </a:solidFill>
              </a:rPr>
            </a:br>
            <a:r>
              <a:rPr lang="en-US" sz="3200" dirty="0">
                <a:solidFill>
                  <a:srgbClr val="C0504D"/>
                </a:solidFill>
                <a:latin typeface="Calibri"/>
                <a:ea typeface="Calibri"/>
                <a:cs typeface="Calibri"/>
                <a:sym typeface="Calibri"/>
              </a:rPr>
              <a:t>Mike Kirby (FNAL)</a:t>
            </a:r>
            <a:br>
              <a:rPr lang="en-US" sz="3200" dirty="0">
                <a:solidFill>
                  <a:srgbClr val="C0504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dirty="0">
                <a:solidFill>
                  <a:srgbClr val="C0504D"/>
                </a:solidFill>
                <a:latin typeface="Calibri"/>
                <a:ea typeface="Calibri"/>
                <a:cs typeface="Calibri"/>
                <a:sym typeface="Calibri"/>
              </a:rPr>
              <a:t>FOR THE COMPUTING CONSORTIUM</a:t>
            </a:r>
            <a:endParaRPr dirty="0"/>
          </a:p>
        </p:txBody>
      </p:sp>
      <p:sp>
        <p:nvSpPr>
          <p:cNvPr id="183" name="Google Shape;183;p26"/>
          <p:cNvSpPr txBox="1">
            <a:spLocks noGrp="1"/>
          </p:cNvSpPr>
          <p:nvPr>
            <p:ph type="dt" idx="10"/>
          </p:nvPr>
        </p:nvSpPr>
        <p:spPr>
          <a:xfrm>
            <a:off x="1283050" y="625633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3/23/23</a:t>
            </a:r>
            <a:endParaRPr dirty="0"/>
          </a:p>
        </p:txBody>
      </p:sp>
      <p:sp>
        <p:nvSpPr>
          <p:cNvPr id="184" name="Google Shape;184;p26"/>
          <p:cNvSpPr txBox="1">
            <a:spLocks noGrp="1"/>
          </p:cNvSpPr>
          <p:nvPr>
            <p:ph type="ftr" idx="11"/>
          </p:nvPr>
        </p:nvSpPr>
        <p:spPr>
          <a:xfrm>
            <a:off x="2780524" y="236539"/>
            <a:ext cx="782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LBNC March 2023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185" name="Google Shape;185;p26"/>
          <p:cNvSpPr txBox="1">
            <a:spLocks noGrp="1"/>
          </p:cNvSpPr>
          <p:nvPr>
            <p:ph type="sldNum" idx="12"/>
          </p:nvPr>
        </p:nvSpPr>
        <p:spPr>
          <a:xfrm>
            <a:off x="10668000" y="228600"/>
            <a:ext cx="1117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 dirty="0">
              <a:solidFill>
                <a:schemeClr val="lt2"/>
              </a:solidFill>
            </a:endParaRPr>
          </a:p>
        </p:txBody>
      </p:sp>
      <p:pic>
        <p:nvPicPr>
          <p:cNvPr id="186" name="Google Shape;186;p26" descr="DUNE at Work - Hom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98180" y="236539"/>
            <a:ext cx="3784600" cy="756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C450E74-BEC6-90AC-F9BB-1B61A3929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Upcoming Events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5D6A20A-14C1-8CAB-64E4-9319A649E4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Recruiting event, Wednesday the 24</a:t>
            </a:r>
            <a:r>
              <a:rPr lang="en-US" baseline="30000" dirty="0"/>
              <a:t>th</a:t>
            </a:r>
            <a:r>
              <a:rPr lang="en-US" dirty="0"/>
              <a:t> 9AM, WH2E</a:t>
            </a:r>
          </a:p>
          <a:p>
            <a:r>
              <a:rPr lang="en-US" dirty="0"/>
              <a:t>Tutorials Wednesday and Thursday the 24</a:t>
            </a:r>
            <a:r>
              <a:rPr lang="en-US" baseline="30000" dirty="0"/>
              <a:t>th</a:t>
            </a:r>
            <a:r>
              <a:rPr lang="en-US" dirty="0"/>
              <a:t>/25</a:t>
            </a:r>
            <a:r>
              <a:rPr lang="en-US" baseline="30000" dirty="0"/>
              <a:t>th</a:t>
            </a:r>
            <a:r>
              <a:rPr lang="en-US" dirty="0"/>
              <a:t> “</a:t>
            </a:r>
            <a:r>
              <a:rPr lang="en-US" dirty="0" err="1"/>
              <a:t>Tollestrup</a:t>
            </a:r>
            <a:r>
              <a:rPr lang="en-US" dirty="0"/>
              <a:t> Auditorium” </a:t>
            </a:r>
          </a:p>
          <a:p>
            <a:r>
              <a:rPr lang="en-US" dirty="0"/>
              <a:t>Frameworks workshop, Monday June 5-7 (FNAL and hybrid) </a:t>
            </a:r>
          </a:p>
          <a:p>
            <a:pPr lvl="1"/>
            <a:r>
              <a:rPr lang="en-US" dirty="0">
                <a:hlinkClick r:id="rId2"/>
              </a:rPr>
              <a:t>https://indico.fnal.gov/e/fermilab-frameworks-workshop</a:t>
            </a:r>
            <a:endParaRPr lang="en-US" dirty="0"/>
          </a:p>
          <a:p>
            <a:r>
              <a:rPr lang="en-US" dirty="0"/>
              <a:t>Review of US DUNE computing </a:t>
            </a:r>
          </a:p>
          <a:p>
            <a:pPr lvl="1"/>
            <a:r>
              <a:rPr lang="en-US" dirty="0"/>
              <a:t>Prereview June 23-23 – remote</a:t>
            </a:r>
          </a:p>
          <a:p>
            <a:pPr lvl="1"/>
            <a:r>
              <a:rPr lang="en-US" dirty="0"/>
              <a:t>Review. July 13-14 @FNAL in person </a:t>
            </a:r>
          </a:p>
          <a:p>
            <a:r>
              <a:rPr lang="en-US" dirty="0"/>
              <a:t>ProtoDUNE II </a:t>
            </a:r>
          </a:p>
          <a:p>
            <a:pPr lvl="1"/>
            <a:r>
              <a:rPr lang="en-US" dirty="0"/>
              <a:t>Lots to do to get ready</a:t>
            </a:r>
          </a:p>
          <a:p>
            <a:pPr lvl="1"/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78C07B-3C38-64A0-6C59-0719670770B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3/23/23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89F620-D884-9884-B759-DB1D35DD5D7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LBNC March 2023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785B3F-0082-B39F-A651-D13C71FC64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480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A70C2-D210-2717-7A33-07F618629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where we are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28C4B-0468-DEA6-1E01-260A468E4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A493C-7A64-8643-7BD6-AC0E17D7E49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3/23/23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48133-6B72-96B0-DBA7-9F989CE36A0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LBNC March 2023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C1344-5A47-8721-96E9-B51E47DFD1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423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8A3E8-ADDB-CCBA-4579-AAE58AA77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6452" y="432610"/>
            <a:ext cx="4280615" cy="569268"/>
          </a:xfrm>
        </p:spPr>
        <p:txBody>
          <a:bodyPr/>
          <a:lstStyle/>
          <a:p>
            <a:r>
              <a:rPr lang="en-US" dirty="0"/>
              <a:t>DUNE computing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506F90-36F5-E996-79AB-80B5EBFBA7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1221C4-B38D-54ED-865E-9B0D1B2CF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93330" y="1238250"/>
            <a:ext cx="4429496" cy="4846638"/>
          </a:xfrm>
        </p:spPr>
        <p:txBody>
          <a:bodyPr/>
          <a:lstStyle/>
          <a:p>
            <a:r>
              <a:rPr lang="en-US" dirty="0"/>
              <a:t>Less hierarchical than original WLCG model</a:t>
            </a:r>
          </a:p>
          <a:p>
            <a:r>
              <a:rPr lang="en-US" dirty="0"/>
              <a:t>Able to use opportunistic resources</a:t>
            </a:r>
          </a:p>
          <a:p>
            <a:r>
              <a:rPr lang="en-US" dirty="0"/>
              <a:t>Sites offer services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Archival (few)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Disk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Rucio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Storage Element)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CPU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HPC</a:t>
            </a:r>
          </a:p>
          <a:p>
            <a:pPr marL="88900" indent="0">
              <a:buNone/>
            </a:pPr>
            <a:endParaRPr lang="en-US" dirty="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AA2A9DFC-89B7-F826-06A0-55CC8F57B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53" y="182244"/>
            <a:ext cx="7267699" cy="650933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7186A-6526-395B-5B95-1DF0EA3D093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 dirty="0"/>
              <a:t>3/23/23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549B436-1B14-1497-E736-E35AAFCBBA6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LBNC March 2023</a:t>
            </a:r>
          </a:p>
        </p:txBody>
      </p:sp>
    </p:spTree>
    <p:extLst>
      <p:ext uri="{BB962C8B-B14F-4D97-AF65-F5344CB8AC3E}">
        <p14:creationId xmlns:p14="http://schemas.microsoft.com/office/powerpoint/2010/main" val="295166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2C4B5738-8D38-D455-F9BB-ABC5E9E5C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6" y="5521483"/>
            <a:ext cx="5338140" cy="737519"/>
          </a:xfrm>
        </p:spPr>
        <p:txBody>
          <a:bodyPr/>
          <a:lstStyle/>
          <a:p>
            <a:r>
              <a:rPr lang="en-US" sz="2400" dirty="0"/>
              <a:t>Disk ~ 5-10% of an LHC expt.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58C3AEBD-BB99-C2FB-9F27-F8BA6BD0E7D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244261" y="5521483"/>
            <a:ext cx="5338140" cy="737519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Title 3">
            <a:extLst>
              <a:ext uri="{FF2B5EF4-FFF2-40B4-BE49-F238E27FC236}">
                <a16:creationId xmlns:a16="http://schemas.microsoft.com/office/drawing/2014/main" id="{FE4A481D-B3A1-920A-B48E-A234212F1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62518"/>
            <a:ext cx="10972800" cy="647102"/>
          </a:xfrm>
        </p:spPr>
        <p:txBody>
          <a:bodyPr/>
          <a:lstStyle/>
          <a:p>
            <a:r>
              <a:rPr lang="en-US" dirty="0"/>
              <a:t>Disk compared to CMS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E0A807-3739-5DEC-2E20-0229B83F1A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05368" y="6549549"/>
            <a:ext cx="566925" cy="158697"/>
          </a:xfrm>
        </p:spPr>
        <p:txBody>
          <a:bodyPr anchor="b">
            <a:normAutofit fontScale="25000" lnSpcReduction="2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300"/>
          </a:p>
          <a:p>
            <a:pPr>
              <a:lnSpc>
                <a:spcPct val="90000"/>
              </a:lnSpc>
              <a:spcAft>
                <a:spcPts val="600"/>
              </a:spcAft>
            </a:pPr>
            <a:fld id="{01A0B35B-92FC-4436-A986-B881E1E75555}" type="slidenum">
              <a:rPr lang="en-US" sz="300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US" sz="30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300"/>
          </a:p>
        </p:txBody>
      </p:sp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85F414DA-4161-05BE-C8B0-402403B19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613" y="1234440"/>
            <a:ext cx="6400800" cy="3840480"/>
          </a:xfrm>
          <a:prstGeom prst="rect">
            <a:avLst/>
          </a:prstGeom>
          <a:noFill/>
        </p:spPr>
      </p:pic>
      <p:pic>
        <p:nvPicPr>
          <p:cNvPr id="4" name="Picture 3" descr="A picture containing text, line, plot, diagram&#10;&#10;Description automatically generated">
            <a:extLst>
              <a:ext uri="{FF2B5EF4-FFF2-40B4-BE49-F238E27FC236}">
                <a16:creationId xmlns:a16="http://schemas.microsoft.com/office/drawing/2014/main" id="{C890BD98-543F-D13D-F9BD-530BED710F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561" r="6697"/>
          <a:stretch/>
        </p:blipFill>
        <p:spPr>
          <a:xfrm>
            <a:off x="0" y="1378725"/>
            <a:ext cx="597959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089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389DA3-FA2D-294F-00FB-DF46971DA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Tape 10-15% of an LHC experiment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40E15-84B5-4BF0-F7E1-B91EA24D5BB6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6DFCEE4-0190-C605-7901-7E090CA1F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Tape prediction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EC1901-D505-310E-BFD6-497C8658396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F959038-0EE5-4D40-94CC-11A27893214C}" type="datetime1">
              <a:rPr lang="en-US" smtClean="0"/>
              <a:t>1/17/26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23DC5D-AB33-C03A-AC73-00DE9DAD0D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CHEP 2019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027B29-0AC5-75A4-07BD-3AAA1E3E74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endParaRPr lang="en-US"/>
          </a:p>
          <a:p>
            <a:fld id="{01A0B35B-92FC-4436-A986-B881E1E75555}" type="slidenum">
              <a:rPr lang="en-US" smtClean="0"/>
              <a:pPr/>
              <a:t>6</a:t>
            </a:fld>
            <a:endParaRPr lang="en-US"/>
          </a:p>
          <a:p>
            <a:endParaRPr lang="en-US" dirty="0"/>
          </a:p>
        </p:txBody>
      </p:sp>
      <p:pic>
        <p:nvPicPr>
          <p:cNvPr id="23" name="Content Placeholder 22" descr="A picture containing text, line, plot, screenshot&#10;&#10;Description automatically generated">
            <a:extLst>
              <a:ext uri="{FF2B5EF4-FFF2-40B4-BE49-F238E27FC236}">
                <a16:creationId xmlns:a16="http://schemas.microsoft.com/office/drawing/2014/main" id="{9F7B85FB-765A-DCD8-8E8B-BE82B8FF492A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 rotWithShape="1">
          <a:blip r:embed="rId2"/>
          <a:srcRect l="10246" r="6913"/>
          <a:stretch/>
        </p:blipFill>
        <p:spPr>
          <a:xfrm>
            <a:off x="0" y="1500346"/>
            <a:ext cx="6059985" cy="3657600"/>
          </a:xfrm>
        </p:spPr>
      </p:pic>
      <p:pic>
        <p:nvPicPr>
          <p:cNvPr id="27" name="Content Placeholder 26" descr="A picture containing text, screenshot, line, plot&#10;&#10;Description automatically generated">
            <a:extLst>
              <a:ext uri="{FF2B5EF4-FFF2-40B4-BE49-F238E27FC236}">
                <a16:creationId xmlns:a16="http://schemas.microsoft.com/office/drawing/2014/main" id="{87F3E299-344D-EC3B-8849-D9C74961360D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3"/>
          <a:stretch>
            <a:fillRect/>
          </a:stretch>
        </p:blipFill>
        <p:spPr>
          <a:xfrm>
            <a:off x="5947746" y="1317466"/>
            <a:ext cx="6400800" cy="3840480"/>
          </a:xfrm>
        </p:spPr>
      </p:pic>
    </p:spTree>
    <p:extLst>
      <p:ext uri="{BB962C8B-B14F-4D97-AF65-F5344CB8AC3E}">
        <p14:creationId xmlns:p14="http://schemas.microsoft.com/office/powerpoint/2010/main" val="2465711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A0B83E-E552-96C4-1F91-F10492724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CPU ~ 2% ???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E885F-2BB9-43C8-4269-93127A38A6D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sz="2400" dirty="0"/>
              <a:t>CPU is much harder to estimate as depends on human behavior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2A346BD-8C2A-6A00-C5C4-0B74228D3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3AF9AD-F90C-27A1-22D0-726C24C96B9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F959038-0EE5-4D40-94CC-11A27893214C}" type="datetime1">
              <a:rPr lang="en-US" smtClean="0"/>
              <a:t>1/17/26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15C2B-755B-A833-0B05-9A1A829B1C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CHEP 2019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E45551-5F26-090C-E2B4-6B8BE174DC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endParaRPr lang="en-US"/>
          </a:p>
          <a:p>
            <a:fld id="{01A0B35B-92FC-4436-A986-B881E1E75555}" type="slidenum">
              <a:rPr lang="en-US" smtClean="0"/>
              <a:pPr/>
              <a:t>7</a:t>
            </a:fld>
            <a:endParaRPr lang="en-US"/>
          </a:p>
          <a:p>
            <a:endParaRPr lang="en-US" dirty="0"/>
          </a:p>
        </p:txBody>
      </p:sp>
      <p:pic>
        <p:nvPicPr>
          <p:cNvPr id="11" name="Content Placeholder 10" descr="A picture containing text, diagram, screenshot, line&#10;&#10;Description automatically generated">
            <a:extLst>
              <a:ext uri="{FF2B5EF4-FFF2-40B4-BE49-F238E27FC236}">
                <a16:creationId xmlns:a16="http://schemas.microsoft.com/office/drawing/2014/main" id="{2CCDB78D-6F18-E202-15C0-E4592C00F8DD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/>
          <a:stretch>
            <a:fillRect/>
          </a:stretch>
        </p:blipFill>
        <p:spPr>
          <a:xfrm>
            <a:off x="5712931" y="1535730"/>
            <a:ext cx="6400800" cy="3840480"/>
          </a:xfrm>
        </p:spPr>
      </p:pic>
      <p:pic>
        <p:nvPicPr>
          <p:cNvPr id="13" name="Content Placeholder 12" descr="A picture containing text, line, plot, diagram&#10;&#10;Description automatically generated">
            <a:extLst>
              <a:ext uri="{FF2B5EF4-FFF2-40B4-BE49-F238E27FC236}">
                <a16:creationId xmlns:a16="http://schemas.microsoft.com/office/drawing/2014/main" id="{2002D3F9-C75A-7D1F-17BF-306A504A0AD0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 rotWithShape="1">
          <a:blip r:embed="rId3"/>
          <a:srcRect l="12500" r="7520"/>
          <a:stretch/>
        </p:blipFill>
        <p:spPr>
          <a:xfrm>
            <a:off x="97057" y="1664670"/>
            <a:ext cx="5850689" cy="3657600"/>
          </a:xfrm>
        </p:spPr>
      </p:pic>
    </p:spTree>
    <p:extLst>
      <p:ext uri="{BB962C8B-B14F-4D97-AF65-F5344CB8AC3E}">
        <p14:creationId xmlns:p14="http://schemas.microsoft.com/office/powerpoint/2010/main" val="898351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2"/>
          <p:cNvSpPr txBox="1">
            <a:spLocks noGrp="1"/>
          </p:cNvSpPr>
          <p:nvPr>
            <p:ph type="title"/>
          </p:nvPr>
        </p:nvSpPr>
        <p:spPr>
          <a:xfrm>
            <a:off x="605368" y="462518"/>
            <a:ext cx="4636661" cy="647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Global contributions</a:t>
            </a:r>
            <a:endParaRPr dirty="0"/>
          </a:p>
        </p:txBody>
      </p:sp>
      <p:sp>
        <p:nvSpPr>
          <p:cNvPr id="282" name="Google Shape;282;p32"/>
          <p:cNvSpPr txBox="1">
            <a:spLocks noGrp="1"/>
          </p:cNvSpPr>
          <p:nvPr>
            <p:ph type="dt" idx="10"/>
          </p:nvPr>
        </p:nvSpPr>
        <p:spPr>
          <a:xfrm>
            <a:off x="1172293" y="6549549"/>
            <a:ext cx="1331423" cy="158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3/23/23</a:t>
            </a:r>
            <a:endParaRPr dirty="0"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283" name="Google Shape;283;p32"/>
          <p:cNvSpPr txBox="1">
            <a:spLocks noGrp="1"/>
          </p:cNvSpPr>
          <p:nvPr>
            <p:ph type="ftr" idx="11"/>
          </p:nvPr>
        </p:nvSpPr>
        <p:spPr>
          <a:xfrm>
            <a:off x="2503714" y="6549549"/>
            <a:ext cx="5799081" cy="158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LBNC March 2023</a:t>
            </a:r>
            <a:endParaRPr dirty="0"/>
          </a:p>
        </p:txBody>
      </p:sp>
      <p:sp>
        <p:nvSpPr>
          <p:cNvPr id="284" name="Google Shape;284;p32"/>
          <p:cNvSpPr txBox="1">
            <a:spLocks noGrp="1"/>
          </p:cNvSpPr>
          <p:nvPr>
            <p:ph type="sldNum" idx="12"/>
          </p:nvPr>
        </p:nvSpPr>
        <p:spPr>
          <a:xfrm>
            <a:off x="605368" y="6549549"/>
            <a:ext cx="566925" cy="158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 dirty="0"/>
          </a:p>
        </p:txBody>
      </p:sp>
      <p:pic>
        <p:nvPicPr>
          <p:cNvPr id="285" name="Google Shape;28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42034" y="315704"/>
            <a:ext cx="6858000" cy="59309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2"/>
          <p:cNvSpPr txBox="1">
            <a:spLocks noGrp="1"/>
          </p:cNvSpPr>
          <p:nvPr>
            <p:ph type="body" idx="1"/>
          </p:nvPr>
        </p:nvSpPr>
        <p:spPr>
          <a:xfrm>
            <a:off x="605373" y="1207770"/>
            <a:ext cx="4636661" cy="507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256032" lvl="0" indent="-25603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5A77"/>
              </a:buClr>
              <a:buSzPts val="2200"/>
              <a:buFont typeface="Arial"/>
              <a:buChar char="•"/>
            </a:pPr>
            <a:r>
              <a:rPr lang="en-US" dirty="0"/>
              <a:t>Computing Contributions Board</a:t>
            </a:r>
          </a:p>
          <a:p>
            <a:pPr marL="713232" lvl="1" indent="-256032">
              <a:spcBef>
                <a:spcPts val="0"/>
              </a:spcBef>
              <a:buSzPts val="2200"/>
              <a:buFont typeface="Arial"/>
              <a:buChar char="•"/>
            </a:pPr>
            <a:r>
              <a:rPr lang="en-US" dirty="0"/>
              <a:t>Chaired by Pete Clarke</a:t>
            </a:r>
            <a:endParaRPr dirty="0"/>
          </a:p>
          <a:p>
            <a:pPr marL="256032" lvl="0" indent="-256032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5A77"/>
              </a:buClr>
              <a:buSzPts val="2200"/>
              <a:buFont typeface="Arial"/>
              <a:buChar char="•"/>
            </a:pPr>
            <a:r>
              <a:rPr lang="en-US" dirty="0"/>
              <a:t>Voluntary pledges of CPU and disk</a:t>
            </a:r>
            <a:endParaRPr dirty="0"/>
          </a:p>
          <a:p>
            <a:pPr marL="256032" lvl="0" indent="-256032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5A77"/>
              </a:buClr>
              <a:buSzPts val="2200"/>
              <a:buFont typeface="Arial"/>
              <a:buChar char="•"/>
            </a:pPr>
            <a:r>
              <a:rPr lang="en-US" dirty="0"/>
              <a:t>CPU is now in Memory Weighted Cores normalized to 2 GB/core</a:t>
            </a:r>
            <a:endParaRPr dirty="0"/>
          </a:p>
          <a:p>
            <a:pPr marL="541338" lvl="1" indent="-266699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5A77"/>
              </a:buClr>
              <a:buSzPts val="1800"/>
              <a:buChar char="-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MWC = Core * N GB/(2GB)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41337" lvl="1" indent="-2667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5A77"/>
              </a:buClr>
              <a:buSzPts val="1800"/>
              <a:buChar char="-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Many sites offer 4-6 GB/core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41338" lvl="1" indent="-266699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DUNE reco/sim are 4-6 GB/core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6032" lvl="0" indent="-256032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5A77"/>
              </a:buClr>
              <a:buSzPts val="2200"/>
              <a:buFont typeface="Arial"/>
              <a:buChar char="•"/>
            </a:pPr>
            <a:r>
              <a:rPr lang="en-US" dirty="0"/>
              <a:t>Disk allows 2 copies, one on either side of the Atlantic</a:t>
            </a:r>
            <a:endParaRPr dirty="0"/>
          </a:p>
        </p:txBody>
      </p:sp>
      <p:sp>
        <p:nvSpPr>
          <p:cNvPr id="287" name="Google Shape;287;p32"/>
          <p:cNvSpPr txBox="1"/>
          <p:nvPr/>
        </p:nvSpPr>
        <p:spPr>
          <a:xfrm>
            <a:off x="605368" y="5465564"/>
            <a:ext cx="40119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Red text is tentative based on prior years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EA356C-6951-7EA4-50F3-57F1E2C97B7B}"/>
              </a:ext>
            </a:extLst>
          </p:cNvPr>
          <p:cNvSpPr txBox="1"/>
          <p:nvPr/>
        </p:nvSpPr>
        <p:spPr>
          <a:xfrm>
            <a:off x="6949968" y="950026"/>
            <a:ext cx="1352827" cy="307777"/>
          </a:xfrm>
          <a:prstGeom prst="rect">
            <a:avLst/>
          </a:prstGeom>
          <a:solidFill>
            <a:srgbClr val="FFFF00">
              <a:alpha val="99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REQUEST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E9806B2-5F00-ABEA-9BAF-98071439D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62518"/>
            <a:ext cx="10972800" cy="64710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9963E-BA58-30CC-807F-12DBF07E4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400" y="6699303"/>
            <a:ext cx="566925" cy="158697"/>
          </a:xfrm>
        </p:spPr>
        <p:txBody>
          <a:bodyPr anchor="b">
            <a:normAutofit fontScale="25000" lnSpcReduction="2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30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300"/>
          </a:p>
          <a:p>
            <a:pPr>
              <a:lnSpc>
                <a:spcPct val="90000"/>
              </a:lnSpc>
              <a:spcAft>
                <a:spcPts val="600"/>
              </a:spcAft>
            </a:pPr>
            <a:fld id="{01A0B35B-92FC-4436-A986-B881E1E75555}" type="slidenum">
              <a:rPr lang="en-US" sz="300" smtClean="0"/>
              <a:pPr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en-US" sz="30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BF58EC2-4C2F-B788-34EE-624BDCE189BC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48" y="0"/>
            <a:ext cx="5078472" cy="5030787"/>
          </a:xfrm>
        </p:spPr>
      </p:pic>
      <p:pic>
        <p:nvPicPr>
          <p:cNvPr id="7" name="Picture Placeholder 6" descr="Chart, pie chart&#10;&#10;Description automatically generated">
            <a:extLst>
              <a:ext uri="{FF2B5EF4-FFF2-40B4-BE49-F238E27FC236}">
                <a16:creationId xmlns:a16="http://schemas.microsoft.com/office/drawing/2014/main" id="{73BDB2EC-57E0-1FE0-DAD8-AB000CD483AA}"/>
              </a:ext>
            </a:extLst>
          </p:cNvPr>
          <p:cNvPicPr>
            <a:picLocks noGrp="1" noChangeAspect="1"/>
          </p:cNvPicPr>
          <p:nvPr>
            <p:ph idx="1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"/>
          <a:stretch/>
        </p:blipFill>
        <p:spPr>
          <a:xfrm>
            <a:off x="6178921" y="235285"/>
            <a:ext cx="4822478" cy="4560215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9E659C3-A875-B237-4404-7A0A0F5056F9}"/>
              </a:ext>
            </a:extLst>
          </p:cNvPr>
          <p:cNvSpPr txBox="1"/>
          <p:nvPr/>
        </p:nvSpPr>
        <p:spPr>
          <a:xfrm>
            <a:off x="239144" y="5152643"/>
            <a:ext cx="53587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DUNE CPU for the past year, </a:t>
            </a:r>
          </a:p>
          <a:p>
            <a:r>
              <a:rPr lang="en-US" dirty="0">
                <a:latin typeface="+mn-lt"/>
              </a:rPr>
              <a:t>used 48.5M wall hours</a:t>
            </a:r>
          </a:p>
          <a:p>
            <a:r>
              <a:rPr lang="en-US" dirty="0">
                <a:latin typeface="+mn-lt"/>
              </a:rPr>
              <a:t>Inner circle shows the national split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D681B1-8503-8431-0CCD-311774DC10E2}"/>
              </a:ext>
            </a:extLst>
          </p:cNvPr>
          <p:cNvSpPr txBox="1"/>
          <p:nvPr/>
        </p:nvSpPr>
        <p:spPr>
          <a:xfrm>
            <a:off x="6223624" y="5140858"/>
            <a:ext cx="53587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Disk currently in use/available</a:t>
            </a:r>
          </a:p>
          <a:p>
            <a:r>
              <a:rPr lang="en-US" dirty="0">
                <a:latin typeface="+mn-lt"/>
              </a:rPr>
              <a:t>FNAL </a:t>
            </a:r>
            <a:r>
              <a:rPr lang="en-US">
                <a:latin typeface="+mn-lt"/>
              </a:rPr>
              <a:t>~ 11/11 </a:t>
            </a:r>
            <a:r>
              <a:rPr lang="en-US" dirty="0">
                <a:latin typeface="+mn-lt"/>
              </a:rPr>
              <a:t>PB  </a:t>
            </a:r>
          </a:p>
          <a:p>
            <a:r>
              <a:rPr lang="en-US" dirty="0">
                <a:latin typeface="+mn-lt"/>
              </a:rPr>
              <a:t>Other ~ 7.6/12.5 PB  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42474BF-4135-F535-E243-0FA1963700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805595"/>
              </p:ext>
            </p:extLst>
          </p:nvPr>
        </p:nvGraphicFramePr>
        <p:xfrm>
          <a:off x="0" y="302648"/>
          <a:ext cx="762000" cy="4362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431897685"/>
                    </a:ext>
                  </a:extLst>
                </a:gridCol>
              </a:tblGrid>
              <a:tr h="133597">
                <a:tc>
                  <a:txBody>
                    <a:bodyPr/>
                    <a:lstStyle/>
                    <a:p>
                      <a:pPr algn="r" fontAlgn="auto"/>
                      <a:endParaRPr lang="en-US" sz="1400" u="none" strike="noStrike" dirty="0">
                        <a:effectLst/>
                      </a:endParaRPr>
                    </a:p>
                    <a:p>
                      <a:pPr algn="r" fontAlgn="auto"/>
                      <a:r>
                        <a:rPr lang="en-US" sz="1400" u="none" strike="noStrike" dirty="0">
                          <a:effectLst/>
                        </a:rPr>
                        <a:t>46.84% </a:t>
                      </a:r>
                      <a:endParaRPr lang="en-US" sz="1400" b="0" i="0" u="none" strike="noStrike" dirty="0">
                        <a:solidFill>
                          <a:srgbClr val="34374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36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9412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E36E1F-778F-B660-B3D9-DFB70DA42B2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3/23/23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0365D5-2A32-65D4-AF27-FF22F6C70D0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LBNC March 2023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E7EC7E-0038-2063-8717-9B0E8930FE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AE331D7-D349-88B0-1127-511728C154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many computing roles that don’t require a PhD in CS</a:t>
            </a:r>
          </a:p>
          <a:p>
            <a:r>
              <a:rPr lang="en-US" dirty="0"/>
              <a:t>But very important for physics</a:t>
            </a:r>
          </a:p>
          <a:p>
            <a:r>
              <a:rPr lang="en-US" dirty="0"/>
              <a:t>We are looking for interested people to take on these roles.</a:t>
            </a:r>
          </a:p>
          <a:p>
            <a:r>
              <a:rPr lang="en-US" dirty="0"/>
              <a:t>Can be done remotely </a:t>
            </a:r>
          </a:p>
          <a:p>
            <a:r>
              <a:rPr lang="en-US" dirty="0"/>
              <a:t>A way to contribute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15D70A0-A725-98C2-E6F4-FBA5B97B934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88900" indent="0">
              <a:buNone/>
            </a:pPr>
            <a:r>
              <a:rPr lang="en-US" dirty="0"/>
              <a:t>Recruiting Event</a:t>
            </a:r>
          </a:p>
          <a:p>
            <a:pPr marL="88900" indent="0">
              <a:buNone/>
            </a:pPr>
            <a:r>
              <a:rPr lang="en-US" dirty="0"/>
              <a:t>9AM in WH2E (</a:t>
            </a:r>
            <a:r>
              <a:rPr lang="en-US" dirty="0" err="1"/>
              <a:t>Comitium</a:t>
            </a:r>
            <a:r>
              <a:rPr lang="en-US" dirty="0"/>
              <a:t>)</a:t>
            </a:r>
          </a:p>
          <a:p>
            <a:pPr marL="88900" indent="0">
              <a:buNone/>
            </a:pPr>
            <a:r>
              <a:rPr lang="en-US" dirty="0"/>
              <a:t>Hear about public data and other upcoming projects</a:t>
            </a:r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179925C7-4529-5D41-564D-2B9BC1533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I help?</a:t>
            </a:r>
          </a:p>
        </p:txBody>
      </p:sp>
    </p:spTree>
    <p:extLst>
      <p:ext uri="{BB962C8B-B14F-4D97-AF65-F5344CB8AC3E}">
        <p14:creationId xmlns:p14="http://schemas.microsoft.com/office/powerpoint/2010/main" val="3213458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0439617-99DC-0A86-4E82-1AAB56AC9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I help?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03A02-BDA4-E629-2615-7DBAB4BB530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3/23/23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ABE57-E528-42BE-33D7-9B6C6A0EB24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LBNC March 2023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96DE4-5548-D120-13B5-BFFA235BB7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BC7BFCD-9924-330B-002A-736C733D15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rtl="0"/>
            <a:r>
              <a:rPr lang="en-US" dirty="0"/>
              <a:t>Data Placement Manager</a:t>
            </a:r>
          </a:p>
          <a:p>
            <a:pPr rtl="0"/>
            <a:r>
              <a:rPr lang="en-US" dirty="0"/>
              <a:t>Production Team</a:t>
            </a:r>
          </a:p>
          <a:p>
            <a:pPr rtl="0"/>
            <a:r>
              <a:rPr lang="en-US" dirty="0"/>
              <a:t>Database Interfaces to framework</a:t>
            </a:r>
          </a:p>
          <a:p>
            <a:pPr rtl="0"/>
            <a:r>
              <a:rPr lang="en-US" dirty="0"/>
              <a:t>Database Interfaces to Calibration/slow controls</a:t>
            </a:r>
          </a:p>
          <a:p>
            <a:pPr rtl="0"/>
            <a:r>
              <a:rPr lang="en-US" dirty="0"/>
              <a:t>Monitoring</a:t>
            </a:r>
          </a:p>
          <a:p>
            <a:pPr rtl="0"/>
            <a:r>
              <a:rPr lang="en-US" dirty="0"/>
              <a:t>Training group</a:t>
            </a:r>
          </a:p>
          <a:p>
            <a:pPr rtl="0"/>
            <a:r>
              <a:rPr lang="en-US" dirty="0"/>
              <a:t>Planning for public data releases</a:t>
            </a:r>
          </a:p>
          <a:p>
            <a:r>
              <a:rPr lang="en-US" dirty="0"/>
              <a:t>Build support/CE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FD0D96-6F1B-5693-ED19-1D4782AE70E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rtl="0"/>
            <a:r>
              <a:rPr lang="en-US" dirty="0"/>
              <a:t>Persistency Models/event data model</a:t>
            </a:r>
          </a:p>
          <a:p>
            <a:pPr rtl="0"/>
            <a:r>
              <a:rPr lang="en-US" dirty="0"/>
              <a:t>Job control improvements</a:t>
            </a:r>
          </a:p>
          <a:p>
            <a:pPr rtl="0"/>
            <a:r>
              <a:rPr lang="en-US" dirty="0"/>
              <a:t>HPC Integration</a:t>
            </a:r>
          </a:p>
          <a:p>
            <a:pPr rtl="0"/>
            <a:r>
              <a:rPr lang="en-US" dirty="0"/>
              <a:t>multithreading workflow/software development/update</a:t>
            </a:r>
          </a:p>
          <a:p>
            <a:pPr rtl="0"/>
            <a:r>
              <a:rPr lang="en-US" dirty="0"/>
              <a:t>Production Infrastructure</a:t>
            </a:r>
          </a:p>
          <a:p>
            <a:pPr rtl="0"/>
            <a:r>
              <a:rPr lang="en-US" dirty="0"/>
              <a:t>Accelerator Integration</a:t>
            </a:r>
          </a:p>
          <a:p>
            <a:pPr rtl="0"/>
            <a:r>
              <a:rPr lang="en-US" dirty="0"/>
              <a:t>database caching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277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1CCC8-1CB9-92C1-E655-4A31BBCFD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Data Manager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437916-9641-84BE-BB88-49A78A01E6D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3/23/23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CEA88-421F-2346-25C3-5F9C8FD1B84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LBNC March 2023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F506AB-C0DB-7166-8C3C-16593F0258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8D07FDC-FC58-F939-6D9D-D4275E1D0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comes in collections defined by:</a:t>
            </a:r>
          </a:p>
          <a:p>
            <a:pPr lvl="1"/>
            <a:r>
              <a:rPr lang="en-US" dirty="0"/>
              <a:t>Experiment (PDHD/PDVD)</a:t>
            </a:r>
          </a:p>
          <a:p>
            <a:pPr lvl="1"/>
            <a:r>
              <a:rPr lang="en-US" dirty="0"/>
              <a:t>Run conditions</a:t>
            </a:r>
          </a:p>
          <a:p>
            <a:pPr lvl="1"/>
            <a:r>
              <a:rPr lang="en-US" dirty="0"/>
              <a:t>MC or Data</a:t>
            </a:r>
          </a:p>
          <a:p>
            <a:pPr lvl="1"/>
            <a:r>
              <a:rPr lang="en-US" dirty="0"/>
              <a:t>Processing stage (raw-&gt;full reco)</a:t>
            </a:r>
          </a:p>
          <a:p>
            <a:pPr lvl="1"/>
            <a:r>
              <a:rPr lang="en-US" dirty="0"/>
              <a:t>Version</a:t>
            </a:r>
          </a:p>
          <a:p>
            <a:r>
              <a:rPr lang="en-US" dirty="0"/>
              <a:t>Defining and documenting these samples depends on physics needs of the experiment</a:t>
            </a:r>
          </a:p>
          <a:p>
            <a:r>
              <a:rPr lang="en-US" dirty="0"/>
              <a:t>Finite disk space means samples need to be prioritized</a:t>
            </a:r>
          </a:p>
          <a:p>
            <a:pPr lvl="1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C0E9B8C-7329-87D1-F466-0BC7CD0C97F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This role interfaces with the physics groups, production groups and data management. </a:t>
            </a:r>
          </a:p>
          <a:p>
            <a:r>
              <a:rPr lang="en-US" dirty="0"/>
              <a:t>Requires basic abilities in </a:t>
            </a:r>
            <a:r>
              <a:rPr lang="en-US" dirty="0" err="1"/>
              <a:t>unix</a:t>
            </a:r>
            <a:r>
              <a:rPr lang="en-US" dirty="0"/>
              <a:t>/python</a:t>
            </a:r>
          </a:p>
          <a:p>
            <a:r>
              <a:rPr lang="en-US" dirty="0"/>
              <a:t>Experience with data analysis</a:t>
            </a:r>
          </a:p>
          <a:p>
            <a:r>
              <a:rPr lang="en-US" dirty="0"/>
              <a:t>Care and attention </a:t>
            </a:r>
          </a:p>
          <a:p>
            <a:pPr lvl="1"/>
            <a:r>
              <a:rPr lang="en-US" dirty="0"/>
              <a:t>Missing, poorly documented  or duplicate data can profoundly affect results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3CACB6-88A5-3BF4-D428-AC75FB8FDC9C}"/>
              </a:ext>
            </a:extLst>
          </p:cNvPr>
          <p:cNvSpPr txBox="1"/>
          <p:nvPr/>
        </p:nvSpPr>
        <p:spPr>
          <a:xfrm>
            <a:off x="8903368" y="6395482"/>
            <a:ext cx="15680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Some </a:t>
            </a:r>
            <a:r>
              <a:rPr lang="en-US" dirty="0" err="1"/>
              <a:t>eampleVe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067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9AF8D-4B16-F48B-F8A8-25B3D8CC7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 Production team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4FBB07-8F1F-6C41-7300-C75004C7FD0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3/23/23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2C00AA-C393-3D4F-66E9-EC4C40F3C8A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LBNC March 2023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D84955-9D50-8302-9FA1-6AA7F5CCA3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C61F5D4-A75A-F1E0-4EAB-F826547EF5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production team validates and runs large scale data and MC processing</a:t>
            </a:r>
          </a:p>
          <a:p>
            <a:r>
              <a:rPr lang="en-US" dirty="0"/>
              <a:t>Vital for any physics study we do</a:t>
            </a:r>
          </a:p>
          <a:p>
            <a:r>
              <a:rPr lang="en-US" dirty="0"/>
              <a:t>Can do this remotely but requires checking on jobs several times/day when running a “campaign”</a:t>
            </a:r>
          </a:p>
          <a:p>
            <a:r>
              <a:rPr lang="en-US" dirty="0"/>
              <a:t>Need 6-10 people to allow rotations and spread the load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D795041-25AE-B250-E62B-F46FD468B43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Team members learn how to run large jobs at scale</a:t>
            </a:r>
          </a:p>
          <a:p>
            <a:r>
              <a:rPr lang="en-US" dirty="0"/>
              <a:t>Need knowledge of </a:t>
            </a:r>
            <a:r>
              <a:rPr lang="en-US" dirty="0" err="1"/>
              <a:t>unix</a:t>
            </a:r>
            <a:r>
              <a:rPr lang="en-US" dirty="0"/>
              <a:t>/python commands</a:t>
            </a:r>
          </a:p>
          <a:p>
            <a:r>
              <a:rPr lang="en-US" dirty="0"/>
              <a:t>Learn how big compute systems work</a:t>
            </a:r>
          </a:p>
        </p:txBody>
      </p:sp>
    </p:spTree>
    <p:extLst>
      <p:ext uri="{BB962C8B-B14F-4D97-AF65-F5344CB8AC3E}">
        <p14:creationId xmlns:p14="http://schemas.microsoft.com/office/powerpoint/2010/main" val="2951472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A0920-AF1E-44A1-AEC1-1256E04B9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 Training group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C32A8-2813-85E4-2D6A-3C41F776603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3/23/23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081219-75D9-AA5C-4210-765547C0F79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LBNC March 2023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3B851D-956B-1F25-1C98-62EB949F8D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499C25-7564-E3BD-D946-1771928AFE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Help design and run the training programs</a:t>
            </a:r>
          </a:p>
          <a:p>
            <a:pPr lvl="1"/>
            <a:r>
              <a:rPr lang="en-US" dirty="0"/>
              <a:t>In person but with video/materials usable at any time</a:t>
            </a:r>
          </a:p>
          <a:p>
            <a:pPr lvl="1"/>
            <a:r>
              <a:rPr lang="en-US" dirty="0"/>
              <a:t>We use the carpentries format</a:t>
            </a:r>
          </a:p>
          <a:p>
            <a:pPr lvl="1"/>
            <a:r>
              <a:rPr lang="en-US" dirty="0"/>
              <a:t>Would like to include </a:t>
            </a:r>
            <a:r>
              <a:rPr lang="en-US" dirty="0" err="1"/>
              <a:t>Jupyter</a:t>
            </a:r>
            <a:r>
              <a:rPr lang="en-US" dirty="0"/>
              <a:t> notebooks</a:t>
            </a:r>
          </a:p>
          <a:p>
            <a:r>
              <a:rPr lang="en-US" dirty="0"/>
              <a:t>Must like teaching!</a:t>
            </a:r>
          </a:p>
          <a:p>
            <a:r>
              <a:rPr lang="en-US" dirty="0"/>
              <a:t>Right now our trainings are limited by time/personnel</a:t>
            </a:r>
          </a:p>
          <a:p>
            <a:r>
              <a:rPr lang="en-US" dirty="0"/>
              <a:t>Help us make more specialized courses!</a:t>
            </a:r>
          </a:p>
          <a:p>
            <a:pPr marL="88900" indent="0">
              <a:buNone/>
            </a:pPr>
            <a:endParaRPr lang="en-US" dirty="0"/>
          </a:p>
          <a:p>
            <a:pPr marL="8890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9C66D89-3770-F502-B4E7-EE52A1C1840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Skills needed or gained</a:t>
            </a:r>
          </a:p>
          <a:p>
            <a:pPr lvl="1"/>
            <a:r>
              <a:rPr lang="en-US" dirty="0"/>
              <a:t>Github</a:t>
            </a:r>
          </a:p>
          <a:p>
            <a:pPr lvl="1"/>
            <a:r>
              <a:rPr lang="en-US" dirty="0"/>
              <a:t>Python/</a:t>
            </a:r>
            <a:r>
              <a:rPr lang="en-US" dirty="0" err="1"/>
              <a:t>unix</a:t>
            </a:r>
            <a:endParaRPr lang="en-US" dirty="0"/>
          </a:p>
          <a:p>
            <a:pPr lvl="1"/>
            <a:r>
              <a:rPr lang="en-US" dirty="0"/>
              <a:t>DUNE computing </a:t>
            </a:r>
          </a:p>
          <a:p>
            <a:pPr lvl="1"/>
            <a:r>
              <a:rPr lang="en-US" dirty="0"/>
              <a:t>Video editing</a:t>
            </a:r>
          </a:p>
          <a:p>
            <a:pPr lvl="1"/>
            <a:r>
              <a:rPr lang="en-US" dirty="0"/>
              <a:t>documentation</a:t>
            </a:r>
          </a:p>
          <a:p>
            <a:r>
              <a:rPr lang="en-US" dirty="0"/>
              <a:t>How to start</a:t>
            </a:r>
          </a:p>
          <a:p>
            <a:pPr lvl="1"/>
            <a:r>
              <a:rPr lang="en-US" dirty="0"/>
              <a:t>Help us with a tutorial as a mentor!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395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CFC78-3A35-268F-54A2-FC45F3A08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many more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51AD7C-FF3E-1469-435D-6CFA733B137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n-US"/>
              <a:t>3/23/23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E7E07B-108C-6EAA-D66F-CEEADB74F21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LBNC March 2023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C69C13-9436-D052-B0F7-DA51941451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A67E15-047A-03F1-C936-3B0822F1DE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7E819BB-6C4C-457F-717F-43EE1D5692A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823639"/>
      </p:ext>
    </p:extLst>
  </p:cSld>
  <p:clrMapOvr>
    <a:masterClrMapping/>
  </p:clrMapOvr>
</p:sld>
</file>

<file path=ppt/theme/theme1.xml><?xml version="1.0" encoding="utf-8"?>
<a:theme xmlns:a="http://schemas.openxmlformats.org/drawingml/2006/main" name="LBNF Content-Footer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BNC-computing-2023-05-22" id="{D0F6312F-183D-724A-BE5E-71D8E140B2F8}" vid="{FCAACC35-6F44-9B4D-9E41-824ACA6B2A76}"/>
    </a:ext>
  </a:extLst>
</a:theme>
</file>

<file path=ppt/theme/theme2.xml><?xml version="1.0" encoding="utf-8"?>
<a:theme xmlns:a="http://schemas.openxmlformats.org/drawingml/2006/main" name="LBNF Content-Footer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BNC-computing-2023-05-22" id="{D0F6312F-183D-724A-BE5E-71D8E140B2F8}" vid="{CE044D3B-6A35-3E43-8A17-007E965C387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LBNF Content-Footer Theme</Template>
  <TotalTime>1</TotalTime>
  <Words>696</Words>
  <Application>Microsoft Macintosh PowerPoint</Application>
  <PresentationFormat>Widescreen</PresentationFormat>
  <Paragraphs>159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Calibri</vt:lpstr>
      <vt:lpstr>Helvetica</vt:lpstr>
      <vt:lpstr>Lucida Grande</vt:lpstr>
      <vt:lpstr>Helvetica Neue</vt:lpstr>
      <vt:lpstr>Merriweather Sans</vt:lpstr>
      <vt:lpstr>Arial</vt:lpstr>
      <vt:lpstr>LBNF Content-Footer Theme</vt:lpstr>
      <vt:lpstr>LBNF Content-Footer Theme</vt:lpstr>
      <vt:lpstr>DUNE COMPUTING UPDATE Mike Kirby (FNAL) FOR THE COMPUTING CONSORTIUM</vt:lpstr>
      <vt:lpstr>Upcoming Events</vt:lpstr>
      <vt:lpstr>Review of where we are</vt:lpstr>
      <vt:lpstr>DUNE computing model</vt:lpstr>
      <vt:lpstr>Disk compared to CMS </vt:lpstr>
      <vt:lpstr>Tape prediction</vt:lpstr>
      <vt:lpstr>CPU </vt:lpstr>
      <vt:lpstr>Global contributions</vt:lpstr>
      <vt:lpstr>PowerPoint Presentation</vt:lpstr>
      <vt:lpstr>How can I help?</vt:lpstr>
      <vt:lpstr>How can I help?</vt:lpstr>
      <vt:lpstr>Example: Data Manager</vt:lpstr>
      <vt:lpstr>Example:  Production team</vt:lpstr>
      <vt:lpstr>Example:  Training group</vt:lpstr>
      <vt:lpstr>And many more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Schellman, Heidi M</dc:creator>
  <cp:lastModifiedBy>Schellman, Heidi M</cp:lastModifiedBy>
  <cp:revision>1</cp:revision>
  <cp:lastPrinted>2023-03-22T13:53:39Z</cp:lastPrinted>
  <dcterms:created xsi:type="dcterms:W3CDTF">2026-01-17T17:30:15Z</dcterms:created>
  <dcterms:modified xsi:type="dcterms:W3CDTF">2026-01-17T17:31:49Z</dcterms:modified>
</cp:coreProperties>
</file>